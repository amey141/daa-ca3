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e5c0283-3cc7-a337-817c-cd7759441e2f}">
          <p14:sldIdLst>
            <p14:sldId id="256"/>
            <p14:sldId id="257"/>
          </p14:sldIdLst>
        </p14:section>
        <p14:section name="Algorithm" id="{65204b53-0059-9de1-4def-9d0e89f58357}">
          <p14:sldIdLst>
            <p14:sldId id="258"/>
            <p14:sldId id="259"/>
            <p14:sldId id="260"/>
          </p14:sldIdLst>
        </p14:section>
        <p14:section name="Code" id="{4baa3590-7f77-e48e-4934-602a0f14d2f2}">
          <p14:sldIdLst>
            <p14:sldId id="261"/>
          </p14:sldIdLst>
        </p14:section>
        <p14:section name="Analysis" id="{8802e740-3183-05dd-5173-aa69883c662e}">
          <p14:sldIdLst>
            <p14:sldId id="262"/>
            <p14:sldId id="263"/>
          </p14:sldIdLst>
        </p14:section>
        <p14:section name="Conclusion" id="{3b8f5eb9-6ded-b8bf-11de-6ec5bd7b6a65}">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topic: Quick Sort where the pivot is the MIDDLE-position element, partitioned with two pointers i and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Sort is comparison-based and uses divide and conquer. Walk down the flow diagram: pick a middle pivot, partition, recurse,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1-8 are exactly the C code. Key point: choosing the middle element only picks a comparison value; it does not put that element in its final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rows top to bottom. First swap: 8 and 2. Second swap: 7 and 0. Then i &gt; j, so we get left [2,3,1,0] and right [7,10,8], which are sorted recursively. Final: [0,1,2,3,7,8,10].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pseudocode is line-for-line the same as the C program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program. Colour-coding matches the diagrams: teal = pivot line, blue = pointer i loop, orange = pointer j loop. Output: 0 1 2 3 7 8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careful here: choosing the middle position does NOT guarantee O(n log n). Worst case is O(n^2) time and O(n) stack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the trade-off: great average speed, but worst case O(n^2), not stable, and needs stack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choose a middle pivot, partition with i and j, recurse. Input [8,3,1,7,0,10,2] gives [0,1,2,3,7,8,10]. Thank the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881360" cy="16002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3" name="Text 0"/>
          <p:cNvSpPr/>
          <p:nvPr>
            <p:ph idx="101" type="body" hasCustomPrompt="1"/>
          </p:nvPr>
        </p:nvSpPr>
        <p:spPr>
          <a:xfrm>
            <a:off x="640080" y="2331720"/>
            <a:ext cx="8229600" cy="502920"/>
          </a:xfrm>
          <a:prstGeom prst="rect">
            <a:avLst/>
          </a:prstGeom>
          <a:noFill/>
          <a:ln/>
        </p:spPr>
        <p:txBody>
          <a:bodyPr wrap="square" rtlCol="0"/>
          <a:lstStyle>
            <a:lvl1pPr algn="l" indent="0" marL="0">
              <a:buNone/>
              <a:defRPr lang="en-US" sz="2200" dirty="0">
                <a:solidFill>
                  <a:schemeClr val="accent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92240"/>
            <a:ext cx="8229600" cy="237744"/>
          </a:xfrm>
          <a:prstGeom prst="rect">
            <a:avLst/>
          </a:prstGeom>
          <a:noFill/>
          <a:ln/>
        </p:spPr>
        <p:txBody>
          <a:bodyPr wrap="square" lIns="0" tIns="0" rIns="0" bIns="0" rtlCol="0" anchor="ctr"/>
          <a:lstStyle/>
          <a:p>
            <a:pPr indent="0" marL="0">
              <a:buNone/>
            </a:pPr>
            <a:r>
              <a:rPr lang="en-US" sz="1000" dirty="0">
                <a:solidFill>
                  <a:schemeClr val="accent6"/>
                </a:solidFill>
              </a:rPr>
              <a:t>Amey Choudhari  |  PRN 25070521049  |  Section A  |  DAA: Quick Sort (Middle Pivot)</a:t>
            </a:r>
            <a:endParaRPr lang="en-US" sz="10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640080"/>
            <a:ext cx="10881360" cy="1600200"/>
          </a:xfrm>
          <a:prstGeom prst="rect">
            <a:avLst/>
          </a:prstGeom>
          <a:noFill/>
          <a:ln/>
        </p:spPr>
        <p:txBody>
          <a:bodyPr wrap="square" lIns="0" tIns="0" rIns="0" bIns="0" rtlCol="0" anchor="t"/>
          <a:lstStyle/>
          <a:p>
            <a:pPr algn="l" indent="0" marL="0">
              <a:buNone/>
            </a:pPr>
            <a:r>
              <a:rPr lang="en-US" sz="4400" b="1" dirty="0">
                <a:solidFill>
                  <a:schemeClr val="tx2"/>
                </a:solidFill>
              </a:rPr>
              <a:t>QUICK SORT USING THE MIDDLE ELEMENT AS PIVOT</a:t>
            </a:r>
            <a:endParaRPr lang="en-US" sz="4400" dirty="0"/>
          </a:p>
        </p:txBody>
      </p:sp>
      <p:sp>
        <p:nvSpPr>
          <p:cNvPr id="3" name="Text 0"/>
          <p:cNvSpPr/>
          <p:nvPr>
            <p:ph idx="101" type="body" hasCustomPrompt="1"/>
          </p:nvPr>
        </p:nvSpPr>
        <p:spPr>
          <a:xfrm>
            <a:off x="640080" y="2331720"/>
            <a:ext cx="8229600" cy="502920"/>
          </a:xfrm>
          <a:prstGeom prst="rect">
            <a:avLst/>
          </a:prstGeom>
          <a:noFill/>
          <a:ln/>
        </p:spPr>
        <p:txBody>
          <a:bodyPr wrap="square" lIns="0" tIns="0" rIns="0" bIns="0" rtlCol="0" anchor="t"/>
          <a:lstStyle/>
          <a:p>
            <a:pPr algn="l" indent="0" marL="0">
              <a:buNone/>
            </a:pPr>
            <a:r>
              <a:rPr lang="en-US" sz="2200" dirty="0">
                <a:solidFill>
                  <a:schemeClr val="accent2"/>
                </a:solidFill>
              </a:rPr>
              <a:t>Design and Analysis of Algorithms (DAA)</a:t>
            </a:r>
            <a:endParaRPr lang="en-US" sz="2200" dirty="0"/>
          </a:p>
        </p:txBody>
      </p:sp>
      <p:sp>
        <p:nvSpPr>
          <p:cNvPr id="4" name="Shape 2"/>
          <p:cNvSpPr/>
          <p:nvPr/>
        </p:nvSpPr>
        <p:spPr>
          <a:xfrm>
            <a:off x="640080" y="3337560"/>
            <a:ext cx="4937760" cy="2240280"/>
          </a:xfrm>
          <a:prstGeom prst="roundRect">
            <a:avLst>
              <a:gd name="adj" fmla="val 4082"/>
            </a:avLst>
          </a:prstGeom>
          <a:solidFill>
            <a:schemeClr val="bg2"/>
          </a:solidFill>
          <a:ln w="6350">
            <a:solidFill>
              <a:schemeClr val="bg2"/>
            </a:solidFill>
            <a:prstDash val="solid"/>
          </a:ln>
        </p:spPr>
      </p:sp>
      <p:sp>
        <p:nvSpPr>
          <p:cNvPr id="5" name="Text 3"/>
          <p:cNvSpPr txBox="1"/>
          <p:nvPr/>
        </p:nvSpPr>
        <p:spPr>
          <a:xfrm>
            <a:off x="868680" y="3429000"/>
            <a:ext cx="4480560" cy="2057400"/>
          </a:xfrm>
          <a:prstGeom prst="rect">
            <a:avLst/>
          </a:prstGeom>
          <a:noFill/>
          <a:ln/>
        </p:spPr>
        <p:txBody>
          <a:bodyPr wrap="square" lIns="0" tIns="0" rIns="0" bIns="0" rtlCol="0" anchor="ctr"/>
          <a:lstStyle/>
          <a:p>
            <a:pPr indent="0" marL="0">
              <a:buNone/>
            </a:pPr>
            <a:r>
              <a:rPr lang="en-US" sz="1300" dirty="0">
                <a:solidFill>
                  <a:schemeClr val="accent6"/>
                </a:solidFill>
              </a:rPr>
              <a:t>Name</a:t>
            </a:r>
            <a:endParaRPr lang="en-US" sz="1300" dirty="0"/>
          </a:p>
          <a:p>
            <a:pPr indent="0" marL="0">
              <a:spcAft>
                <a:spcPts val="800"/>
              </a:spcAft>
              <a:buNone/>
            </a:pPr>
            <a:r>
              <a:rPr lang="en-US" sz="2200" b="1" dirty="0">
                <a:solidFill>
                  <a:schemeClr val="tx1"/>
                </a:solidFill>
              </a:rPr>
              <a:t>Amey Choudhari</a:t>
            </a:r>
            <a:endParaRPr lang="en-US" sz="1300" dirty="0"/>
          </a:p>
          <a:p>
            <a:pPr indent="0" marL="0">
              <a:buNone/>
            </a:pPr>
            <a:r>
              <a:rPr lang="en-US" sz="1300" dirty="0">
                <a:solidFill>
                  <a:schemeClr val="accent6"/>
                </a:solidFill>
              </a:rPr>
              <a:t>PRN</a:t>
            </a:r>
            <a:endParaRPr lang="en-US" sz="1300" dirty="0"/>
          </a:p>
          <a:p>
            <a:pPr indent="0" marL="0">
              <a:spcAft>
                <a:spcPts val="800"/>
              </a:spcAft>
              <a:buNone/>
            </a:pPr>
            <a:r>
              <a:rPr lang="en-US" sz="2200" b="1" dirty="0">
                <a:solidFill>
                  <a:schemeClr val="tx1"/>
                </a:solidFill>
              </a:rPr>
              <a:t>25070521049</a:t>
            </a:r>
            <a:endParaRPr lang="en-US" sz="1300" dirty="0"/>
          </a:p>
          <a:p>
            <a:pPr indent="0" marL="0">
              <a:buNone/>
            </a:pPr>
            <a:r>
              <a:rPr lang="en-US" sz="1300" dirty="0">
                <a:solidFill>
                  <a:schemeClr val="accent6"/>
                </a:solidFill>
              </a:rPr>
              <a:t>Section</a:t>
            </a:r>
            <a:endParaRPr lang="en-US" sz="1300" dirty="0"/>
          </a:p>
          <a:p>
            <a:pPr indent="0" marL="0">
              <a:buNone/>
            </a:pPr>
            <a:r>
              <a:rPr lang="en-US" sz="2200" b="1" dirty="0">
                <a:solidFill>
                  <a:schemeClr val="tx1"/>
                </a:solidFill>
              </a:rPr>
              <a:t>A</a:t>
            </a:r>
            <a:endParaRPr lang="en-US" sz="1300" dirty="0"/>
          </a:p>
        </p:txBody>
      </p:sp>
      <p:sp>
        <p:nvSpPr>
          <p:cNvPr id="6" name="Text 4"/>
          <p:cNvSpPr/>
          <p:nvPr/>
        </p:nvSpPr>
        <p:spPr>
          <a:xfrm>
            <a:off x="649224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8</a:t>
            </a:r>
            <a:endParaRPr lang="en-US" sz="2200" dirty="0"/>
          </a:p>
        </p:txBody>
      </p:sp>
      <p:sp>
        <p:nvSpPr>
          <p:cNvPr id="7" name="Text 5"/>
          <p:cNvSpPr/>
          <p:nvPr/>
        </p:nvSpPr>
        <p:spPr>
          <a:xfrm>
            <a:off x="722376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3</a:t>
            </a:r>
            <a:endParaRPr lang="en-US" sz="2200" dirty="0"/>
          </a:p>
        </p:txBody>
      </p:sp>
      <p:sp>
        <p:nvSpPr>
          <p:cNvPr id="8" name="Text 6"/>
          <p:cNvSpPr/>
          <p:nvPr/>
        </p:nvSpPr>
        <p:spPr>
          <a:xfrm>
            <a:off x="795528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1</a:t>
            </a:r>
            <a:endParaRPr lang="en-US" sz="2200" dirty="0"/>
          </a:p>
        </p:txBody>
      </p:sp>
      <p:sp>
        <p:nvSpPr>
          <p:cNvPr id="9" name="Text 7"/>
          <p:cNvSpPr/>
          <p:nvPr/>
        </p:nvSpPr>
        <p:spPr>
          <a:xfrm>
            <a:off x="8686800" y="3931920"/>
            <a:ext cx="640080" cy="640080"/>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7</a:t>
            </a:r>
            <a:endParaRPr lang="en-US" sz="2200" dirty="0"/>
          </a:p>
        </p:txBody>
      </p:sp>
      <p:sp>
        <p:nvSpPr>
          <p:cNvPr id="10" name="Text 8"/>
          <p:cNvSpPr/>
          <p:nvPr/>
        </p:nvSpPr>
        <p:spPr>
          <a:xfrm>
            <a:off x="941832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0</a:t>
            </a:r>
            <a:endParaRPr lang="en-US" sz="2200" dirty="0"/>
          </a:p>
        </p:txBody>
      </p:sp>
      <p:sp>
        <p:nvSpPr>
          <p:cNvPr id="11" name="Text 9"/>
          <p:cNvSpPr/>
          <p:nvPr/>
        </p:nvSpPr>
        <p:spPr>
          <a:xfrm>
            <a:off x="1014984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10</a:t>
            </a:r>
            <a:endParaRPr lang="en-US" sz="2200" dirty="0"/>
          </a:p>
        </p:txBody>
      </p:sp>
      <p:sp>
        <p:nvSpPr>
          <p:cNvPr id="12" name="Text 10"/>
          <p:cNvSpPr/>
          <p:nvPr/>
        </p:nvSpPr>
        <p:spPr>
          <a:xfrm>
            <a:off x="10881360" y="3931920"/>
            <a:ext cx="640080" cy="64008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200" b="1" dirty="0">
                <a:solidFill>
                  <a:schemeClr val="tx1"/>
                </a:solidFill>
                <a:latin typeface="Courier New" pitchFamily="34" charset="0"/>
                <a:ea typeface="Courier New" pitchFamily="34" charset="-122"/>
                <a:cs typeface="Courier New" pitchFamily="34" charset="-120"/>
              </a:rPr>
              <a:t>2</a:t>
            </a:r>
            <a:endParaRPr lang="en-US" sz="2200" dirty="0"/>
          </a:p>
        </p:txBody>
      </p:sp>
      <p:sp>
        <p:nvSpPr>
          <p:cNvPr id="13" name="Shape 11"/>
          <p:cNvSpPr/>
          <p:nvPr/>
        </p:nvSpPr>
        <p:spPr>
          <a:xfrm>
            <a:off x="6739128" y="4617720"/>
            <a:ext cx="146304" cy="91440"/>
          </a:xfrm>
          <a:prstGeom prst="triangle">
            <a:avLst/>
          </a:prstGeom>
          <a:solidFill>
            <a:schemeClr val="accent1"/>
          </a:solidFill>
          <a:ln w="6350">
            <a:solidFill>
              <a:schemeClr val="accent1"/>
            </a:solidFill>
            <a:prstDash val="solid"/>
          </a:ln>
        </p:spPr>
      </p:sp>
      <p:sp>
        <p:nvSpPr>
          <p:cNvPr id="14" name="Text 12"/>
          <p:cNvSpPr txBox="1"/>
          <p:nvPr/>
        </p:nvSpPr>
        <p:spPr>
          <a:xfrm>
            <a:off x="6400800" y="4709160"/>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15" name="Shape 13"/>
          <p:cNvSpPr/>
          <p:nvPr/>
        </p:nvSpPr>
        <p:spPr>
          <a:xfrm>
            <a:off x="11128248" y="4617720"/>
            <a:ext cx="146304" cy="91440"/>
          </a:xfrm>
          <a:prstGeom prst="triangle">
            <a:avLst/>
          </a:prstGeom>
          <a:solidFill>
            <a:schemeClr val="accent3"/>
          </a:solidFill>
          <a:ln w="6350">
            <a:solidFill>
              <a:schemeClr val="accent3"/>
            </a:solidFill>
            <a:prstDash val="solid"/>
          </a:ln>
        </p:spPr>
      </p:sp>
      <p:sp>
        <p:nvSpPr>
          <p:cNvPr id="16" name="Text 14"/>
          <p:cNvSpPr txBox="1"/>
          <p:nvPr/>
        </p:nvSpPr>
        <p:spPr>
          <a:xfrm>
            <a:off x="10789920" y="4709160"/>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17" name="Shape 15"/>
          <p:cNvSpPr/>
          <p:nvPr/>
        </p:nvSpPr>
        <p:spPr>
          <a:xfrm>
            <a:off x="8933688" y="4617720"/>
            <a:ext cx="146304" cy="91440"/>
          </a:xfrm>
          <a:prstGeom prst="triangle">
            <a:avLst/>
          </a:prstGeom>
          <a:solidFill>
            <a:schemeClr val="accent2"/>
          </a:solidFill>
          <a:ln w="6350">
            <a:solidFill>
              <a:schemeClr val="accent2"/>
            </a:solidFill>
            <a:prstDash val="solid"/>
          </a:ln>
        </p:spPr>
      </p:sp>
      <p:sp>
        <p:nvSpPr>
          <p:cNvPr id="18" name="Text 16"/>
          <p:cNvSpPr txBox="1"/>
          <p:nvPr/>
        </p:nvSpPr>
        <p:spPr>
          <a:xfrm>
            <a:off x="8595360" y="4709160"/>
            <a:ext cx="822960" cy="201168"/>
          </a:xfrm>
          <a:prstGeom prst="rect">
            <a:avLst/>
          </a:prstGeom>
          <a:noFill/>
          <a:ln/>
        </p:spPr>
        <p:txBody>
          <a:bodyPr wrap="square" lIns="0" tIns="0" rIns="0" bIns="0" rtlCol="0" anchor="ctr"/>
          <a:lstStyle/>
          <a:p>
            <a:pPr algn="ctr" indent="0" marL="0">
              <a:buNone/>
            </a:pPr>
            <a:r>
              <a:rPr lang="en-US" sz="1200" b="1" dirty="0">
                <a:solidFill>
                  <a:schemeClr val="accent2"/>
                </a:solidFill>
              </a:rPr>
              <a:t>pivot</a:t>
            </a:r>
            <a:endParaRPr lang="en-US" sz="1200" dirty="0"/>
          </a:p>
        </p:txBody>
      </p:sp>
      <p:sp>
        <p:nvSpPr>
          <p:cNvPr id="19" name="Text 17"/>
          <p:cNvSpPr txBox="1"/>
          <p:nvPr/>
        </p:nvSpPr>
        <p:spPr>
          <a:xfrm>
            <a:off x="6492240" y="3383280"/>
            <a:ext cx="5029200" cy="320040"/>
          </a:xfrm>
          <a:prstGeom prst="rect">
            <a:avLst/>
          </a:prstGeom>
          <a:noFill/>
          <a:ln/>
        </p:spPr>
        <p:txBody>
          <a:bodyPr wrap="square" lIns="0" tIns="0" rIns="0" bIns="0" rtlCol="0" anchor="ctr"/>
          <a:lstStyle/>
          <a:p>
            <a:pPr indent="0" marL="0">
              <a:buNone/>
            </a:pPr>
            <a:r>
              <a:rPr lang="en-US" sz="1400" dirty="0">
                <a:solidFill>
                  <a:schemeClr val="accent2"/>
                </a:solidFill>
                <a:latin typeface="Courier New" pitchFamily="34" charset="0"/>
                <a:ea typeface="Courier New" pitchFamily="34" charset="-122"/>
                <a:cs typeface="Courier New" pitchFamily="34" charset="-120"/>
              </a:rPr>
              <a:t>pivot = arr[low + (high - low) / 2]</a:t>
            </a:r>
            <a:endParaRPr lang="en-US" sz="1400" dirty="0"/>
          </a:p>
        </p:txBody>
      </p:sp>
      <p:sp>
        <p:nvSpPr>
          <p:cNvPr id="20" name="Text 18"/>
          <p:cNvSpPr txBox="1"/>
          <p:nvPr/>
        </p:nvSpPr>
        <p:spPr>
          <a:xfrm>
            <a:off x="640080" y="5989320"/>
            <a:ext cx="5486400" cy="320040"/>
          </a:xfrm>
          <a:prstGeom prst="rect">
            <a:avLst/>
          </a:prstGeom>
          <a:noFill/>
          <a:ln/>
        </p:spPr>
        <p:txBody>
          <a:bodyPr wrap="square" lIns="0" tIns="0" rIns="0" bIns="0" rtlCol="0" anchor="ctr"/>
          <a:lstStyle/>
          <a:p>
            <a:pPr indent="0" marL="0">
              <a:buNone/>
            </a:pPr>
            <a:r>
              <a:rPr lang="en-US" sz="1400" i="1" dirty="0">
                <a:solidFill>
                  <a:schemeClr val="accent6"/>
                </a:solidFill>
              </a:rPr>
              <a:t>Generated using Claude 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Introduction to Quick Sort</a:t>
            </a:r>
            <a:endParaRPr lang="en-US" sz="3600" dirty="0"/>
          </a:p>
        </p:txBody>
      </p:sp>
      <p:sp>
        <p:nvSpPr>
          <p:cNvPr id="3" name="Text 1"/>
          <p:cNvSpPr txBox="1"/>
          <p:nvPr/>
        </p:nvSpPr>
        <p:spPr>
          <a:xfrm>
            <a:off x="548640" y="1280160"/>
            <a:ext cx="6035040" cy="3200400"/>
          </a:xfrm>
          <a:prstGeom prst="rect">
            <a:avLst/>
          </a:prstGeom>
          <a:noFill/>
          <a:ln/>
        </p:spPr>
        <p:txBody>
          <a:bodyPr wrap="square" lIns="0" tIns="0" rIns="0" bIns="0" rtlCol="0" anchor="t"/>
          <a:lstStyle/>
          <a:p>
            <a:pPr indent="0" marL="0">
              <a:spcAft>
                <a:spcPts val="1200"/>
              </a:spcAft>
              <a:buNone/>
            </a:pPr>
            <a:r>
              <a:rPr lang="en-US" sz="1800" b="1" dirty="0">
                <a:solidFill>
                  <a:schemeClr val="tx2"/>
                </a:solidFill>
              </a:rPr>
              <a:t>Comparison-based: </a:t>
            </a:r>
            <a:pPr indent="0" marL="0">
              <a:buNone/>
            </a:pPr>
            <a:r>
              <a:rPr lang="en-US" sz="1800" dirty="0">
                <a:solidFill>
                  <a:schemeClr val="tx1"/>
                </a:solidFill>
              </a:rPr>
              <a:t>it orders elements by comparing them with a pivot.</a:t>
            </a:r>
            <a:endParaRPr lang="en-US" sz="1800" dirty="0"/>
          </a:p>
          <a:p>
            <a:pPr indent="0" marL="0">
              <a:spcAft>
                <a:spcPts val="1200"/>
              </a:spcAft>
              <a:buNone/>
            </a:pPr>
            <a:r>
              <a:rPr lang="en-US" sz="1800" b="1" dirty="0">
                <a:solidFill>
                  <a:schemeClr val="tx2"/>
                </a:solidFill>
              </a:rPr>
              <a:t>Divide and conquer: </a:t>
            </a:r>
            <a:pPr indent="0" marL="0">
              <a:buNone/>
            </a:pPr>
            <a:r>
              <a:rPr lang="en-US" sz="1800" dirty="0">
                <a:solidFill>
                  <a:schemeClr val="tx1"/>
                </a:solidFill>
              </a:rPr>
              <a:t>split the array, solve each part, repeat.</a:t>
            </a:r>
            <a:endParaRPr lang="en-US" sz="1800" dirty="0"/>
          </a:p>
          <a:p>
            <a:pPr indent="0" marL="0">
              <a:spcAft>
                <a:spcPts val="1200"/>
              </a:spcAft>
              <a:buNone/>
            </a:pPr>
            <a:r>
              <a:rPr lang="en-US" sz="1800" b="1" dirty="0">
                <a:solidFill>
                  <a:schemeClr val="tx2"/>
                </a:solidFill>
              </a:rPr>
              <a:t>Pivot: </a:t>
            </a:r>
            <a:pPr indent="0" marL="0">
              <a:buNone/>
            </a:pPr>
            <a:r>
              <a:rPr lang="en-US" sz="1800" dirty="0">
                <a:solidFill>
                  <a:schemeClr val="tx1"/>
                </a:solidFill>
              </a:rPr>
              <a:t>here, the middle-position element of the current range.</a:t>
            </a:r>
            <a:endParaRPr lang="en-US" sz="1800" dirty="0"/>
          </a:p>
          <a:p>
            <a:pPr indent="0" marL="0">
              <a:spcAft>
                <a:spcPts val="1200"/>
              </a:spcAft>
              <a:buNone/>
            </a:pPr>
            <a:r>
              <a:rPr lang="en-US" sz="1800" b="1" dirty="0">
                <a:solidFill>
                  <a:schemeClr val="tx2"/>
                </a:solidFill>
              </a:rPr>
              <a:t>Partition: </a:t>
            </a:r>
            <a:pPr indent="0" marL="0">
              <a:buNone/>
            </a:pPr>
            <a:r>
              <a:rPr lang="en-US" sz="1800" dirty="0">
                <a:solidFill>
                  <a:schemeClr val="tx1"/>
                </a:solidFill>
              </a:rPr>
              <a:t>elements are rearranged around the pivot using comparisons.</a:t>
            </a:r>
            <a:endParaRPr lang="en-US" sz="1800" dirty="0"/>
          </a:p>
          <a:p>
            <a:pPr indent="0" marL="0">
              <a:spcAft>
                <a:spcPts val="1200"/>
              </a:spcAft>
              <a:buNone/>
            </a:pPr>
            <a:r>
              <a:rPr lang="en-US" sz="1800" b="1" dirty="0">
                <a:solidFill>
                  <a:schemeClr val="tx2"/>
                </a:solidFill>
              </a:rPr>
              <a:t>Recursion: </a:t>
            </a:r>
            <a:pPr indent="0" marL="0">
              <a:buNone/>
            </a:pPr>
            <a:r>
              <a:rPr lang="en-US" sz="1800" dirty="0">
                <a:solidFill>
                  <a:schemeClr val="tx1"/>
                </a:solidFill>
              </a:rPr>
              <a:t>the resulting partitions are sorted the same way.</a:t>
            </a:r>
            <a:endParaRPr lang="en-US" sz="1800" dirty="0"/>
          </a:p>
        </p:txBody>
      </p:sp>
      <p:sp>
        <p:nvSpPr>
          <p:cNvPr id="4" name="Shape 2"/>
          <p:cNvSpPr/>
          <p:nvPr/>
        </p:nvSpPr>
        <p:spPr>
          <a:xfrm>
            <a:off x="548640" y="4572000"/>
            <a:ext cx="6035040" cy="1737360"/>
          </a:xfrm>
          <a:prstGeom prst="roundRect">
            <a:avLst>
              <a:gd name="adj" fmla="val 5263"/>
            </a:avLst>
          </a:prstGeom>
          <a:solidFill>
            <a:schemeClr val="bg2"/>
          </a:solidFill>
          <a:ln w="635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777240" y="4800600"/>
            <a:ext cx="411480" cy="411480"/>
          </a:xfrm>
          <a:prstGeom prst="rect">
            <a:avLst/>
          </a:prstGeom>
        </p:spPr>
      </p:pic>
      <p:sp>
        <p:nvSpPr>
          <p:cNvPr id="6" name="Text 3"/>
          <p:cNvSpPr txBox="1"/>
          <p:nvPr/>
        </p:nvSpPr>
        <p:spPr>
          <a:xfrm>
            <a:off x="1371600" y="4754880"/>
            <a:ext cx="5029200" cy="457200"/>
          </a:xfrm>
          <a:prstGeom prst="rect">
            <a:avLst/>
          </a:prstGeom>
          <a:noFill/>
          <a:ln/>
        </p:spPr>
        <p:txBody>
          <a:bodyPr wrap="square" lIns="0" tIns="0" rIns="0" bIns="0" rtlCol="0" anchor="ctr"/>
          <a:lstStyle/>
          <a:p>
            <a:pPr indent="0" marL="0">
              <a:buNone/>
            </a:pPr>
            <a:r>
              <a:rPr lang="en-US" sz="1800" b="1" dirty="0">
                <a:solidFill>
                  <a:schemeClr val="tx2"/>
                </a:solidFill>
              </a:rPr>
              <a:t>Why sorting matters</a:t>
            </a:r>
            <a:endParaRPr lang="en-US" sz="1800" dirty="0"/>
          </a:p>
        </p:txBody>
      </p:sp>
      <p:sp>
        <p:nvSpPr>
          <p:cNvPr id="7" name="Text 4"/>
          <p:cNvSpPr txBox="1"/>
          <p:nvPr/>
        </p:nvSpPr>
        <p:spPr>
          <a:xfrm>
            <a:off x="777240" y="5303520"/>
            <a:ext cx="5577840" cy="914400"/>
          </a:xfrm>
          <a:prstGeom prst="rect">
            <a:avLst/>
          </a:prstGeom>
          <a:noFill/>
          <a:ln/>
        </p:spPr>
        <p:txBody>
          <a:bodyPr wrap="square" lIns="0" tIns="0" rIns="0" bIns="0" rtlCol="0" anchor="t"/>
          <a:lstStyle/>
          <a:p>
            <a:pPr indent="0" marL="0">
              <a:buNone/>
            </a:pPr>
            <a:r>
              <a:rPr lang="en-US" sz="1400" dirty="0">
                <a:solidFill>
                  <a:schemeClr val="tx1"/>
                </a:solidFill>
              </a:rPr>
              <a:t>Sorted data makes searching (e.g. binary search), merging, duplicate detection and reporting far faster. Sorting is a building block of databases, operating systems and everyday software.</a:t>
            </a:r>
            <a:endParaRPr lang="en-US" sz="1400" dirty="0"/>
          </a:p>
        </p:txBody>
      </p:sp>
      <p:sp>
        <p:nvSpPr>
          <p:cNvPr id="8" name="Text 5"/>
          <p:cNvSpPr/>
          <p:nvPr/>
        </p:nvSpPr>
        <p:spPr>
          <a:xfrm>
            <a:off x="7589520" y="1280160"/>
            <a:ext cx="4023360" cy="640080"/>
          </a:xfrm>
          <a:prstGeom prst="roundRect">
            <a:avLst>
              <a:gd name="adj" fmla="val 14286"/>
            </a:avLst>
          </a:prstGeom>
          <a:solidFill>
            <a:schemeClr val="bg2"/>
          </a:solidFill>
          <a:ln w="15875">
            <a:solidFill>
              <a:schemeClr val="accent6"/>
            </a:solidFill>
          </a:ln>
        </p:spPr>
        <p:txBody>
          <a:bodyPr wrap="square" lIns="0" tIns="0" rIns="0" bIns="0" rtlCol="0" anchor="ctr"/>
          <a:lstStyle/>
          <a:p>
            <a:pPr algn="ctr" indent="0" marL="0">
              <a:buNone/>
            </a:pPr>
            <a:r>
              <a:rPr lang="en-US" sz="1700" b="1" dirty="0">
                <a:solidFill>
                  <a:schemeClr val="tx1"/>
                </a:solidFill>
              </a:rPr>
              <a:t>Unsorted Array</a:t>
            </a:r>
            <a:endParaRPr lang="en-US" sz="1700" dirty="0"/>
          </a:p>
        </p:txBody>
      </p:sp>
      <p:sp>
        <p:nvSpPr>
          <p:cNvPr id="9" name="Shape 6"/>
          <p:cNvSpPr/>
          <p:nvPr/>
        </p:nvSpPr>
        <p:spPr>
          <a:xfrm>
            <a:off x="9601200" y="1947672"/>
            <a:ext cx="0" cy="292608"/>
          </a:xfrm>
          <a:prstGeom prst="line">
            <a:avLst/>
          </a:prstGeom>
          <a:noFill/>
          <a:ln w="25400">
            <a:solidFill>
              <a:schemeClr val="accent6"/>
            </a:solidFill>
            <a:prstDash val="solid"/>
            <a:tailEnd type="triangle"/>
          </a:ln>
        </p:spPr>
      </p:sp>
      <p:sp>
        <p:nvSpPr>
          <p:cNvPr id="10" name="Text 7"/>
          <p:cNvSpPr/>
          <p:nvPr/>
        </p:nvSpPr>
        <p:spPr>
          <a:xfrm>
            <a:off x="7589520" y="2267712"/>
            <a:ext cx="4023360" cy="640080"/>
          </a:xfrm>
          <a:prstGeom prst="roundRect">
            <a:avLst>
              <a:gd name="adj" fmla="val 14286"/>
            </a:avLst>
          </a:prstGeom>
          <a:solidFill>
            <a:schemeClr val="accent2"/>
          </a:solidFill>
          <a:ln w="15875">
            <a:solidFill>
              <a:schemeClr val="accent2"/>
            </a:solidFill>
          </a:ln>
        </p:spPr>
        <p:txBody>
          <a:bodyPr wrap="square" lIns="0" tIns="0" rIns="0" bIns="0" rtlCol="0" anchor="ctr"/>
          <a:lstStyle/>
          <a:p>
            <a:pPr algn="ctr" indent="0" marL="0">
              <a:buNone/>
            </a:pPr>
            <a:r>
              <a:rPr lang="en-US" sz="1700" b="1" dirty="0">
                <a:solidFill>
                  <a:schemeClr val="bg1"/>
                </a:solidFill>
              </a:rPr>
              <a:t>Select Middle-Position Pivot</a:t>
            </a:r>
            <a:endParaRPr lang="en-US" sz="1700" dirty="0"/>
          </a:p>
        </p:txBody>
      </p:sp>
      <p:sp>
        <p:nvSpPr>
          <p:cNvPr id="11" name="Shape 8"/>
          <p:cNvSpPr/>
          <p:nvPr/>
        </p:nvSpPr>
        <p:spPr>
          <a:xfrm>
            <a:off x="9601200" y="2935224"/>
            <a:ext cx="0" cy="292608"/>
          </a:xfrm>
          <a:prstGeom prst="line">
            <a:avLst/>
          </a:prstGeom>
          <a:noFill/>
          <a:ln w="25400">
            <a:solidFill>
              <a:schemeClr val="accent6"/>
            </a:solidFill>
            <a:prstDash val="solid"/>
            <a:tailEnd type="triangle"/>
          </a:ln>
        </p:spPr>
      </p:sp>
      <p:sp>
        <p:nvSpPr>
          <p:cNvPr id="12" name="Text 9"/>
          <p:cNvSpPr/>
          <p:nvPr/>
        </p:nvSpPr>
        <p:spPr>
          <a:xfrm>
            <a:off x="7589520" y="3255264"/>
            <a:ext cx="4023360" cy="640080"/>
          </a:xfrm>
          <a:prstGeom prst="roundRect">
            <a:avLst>
              <a:gd name="adj" fmla="val 14286"/>
            </a:avLst>
          </a:prstGeom>
          <a:solidFill>
            <a:schemeClr val="accent1"/>
          </a:solidFill>
          <a:ln w="15875">
            <a:solidFill>
              <a:schemeClr val="accent1"/>
            </a:solidFill>
          </a:ln>
        </p:spPr>
        <p:txBody>
          <a:bodyPr wrap="square" lIns="0" tIns="0" rIns="0" bIns="0" rtlCol="0" anchor="ctr"/>
          <a:lstStyle/>
          <a:p>
            <a:pPr algn="ctr" indent="0" marL="0">
              <a:buNone/>
            </a:pPr>
            <a:r>
              <a:rPr lang="en-US" sz="1700" b="1" dirty="0">
                <a:solidFill>
                  <a:schemeClr val="bg1"/>
                </a:solidFill>
              </a:rPr>
              <a:t>Partition the Array</a:t>
            </a:r>
            <a:endParaRPr lang="en-US" sz="1700" dirty="0"/>
          </a:p>
        </p:txBody>
      </p:sp>
      <p:sp>
        <p:nvSpPr>
          <p:cNvPr id="13" name="Shape 10"/>
          <p:cNvSpPr/>
          <p:nvPr/>
        </p:nvSpPr>
        <p:spPr>
          <a:xfrm>
            <a:off x="9601200" y="3922776"/>
            <a:ext cx="0" cy="292608"/>
          </a:xfrm>
          <a:prstGeom prst="line">
            <a:avLst/>
          </a:prstGeom>
          <a:noFill/>
          <a:ln w="25400">
            <a:solidFill>
              <a:schemeClr val="accent6"/>
            </a:solidFill>
            <a:prstDash val="solid"/>
            <a:tailEnd type="triangle"/>
          </a:ln>
        </p:spPr>
      </p:sp>
      <p:sp>
        <p:nvSpPr>
          <p:cNvPr id="14" name="Text 11"/>
          <p:cNvSpPr/>
          <p:nvPr/>
        </p:nvSpPr>
        <p:spPr>
          <a:xfrm>
            <a:off x="7589520" y="4242816"/>
            <a:ext cx="4023360" cy="640080"/>
          </a:xfrm>
          <a:prstGeom prst="roundRect">
            <a:avLst>
              <a:gd name="adj" fmla="val 14286"/>
            </a:avLst>
          </a:prstGeom>
          <a:solidFill>
            <a:schemeClr val="tx2"/>
          </a:solidFill>
          <a:ln w="15875">
            <a:solidFill>
              <a:schemeClr val="tx2"/>
            </a:solidFill>
          </a:ln>
        </p:spPr>
        <p:txBody>
          <a:bodyPr wrap="square" lIns="0" tIns="0" rIns="0" bIns="0" rtlCol="0" anchor="ctr"/>
          <a:lstStyle/>
          <a:p>
            <a:pPr algn="ctr" indent="0" marL="0">
              <a:buNone/>
            </a:pPr>
            <a:r>
              <a:rPr lang="en-US" sz="1700" b="1" dirty="0">
                <a:solidFill>
                  <a:schemeClr val="bg1"/>
                </a:solidFill>
              </a:rPr>
              <a:t>Recursively Sort Partitions</a:t>
            </a:r>
            <a:endParaRPr lang="en-US" sz="1700" dirty="0"/>
          </a:p>
        </p:txBody>
      </p:sp>
      <p:sp>
        <p:nvSpPr>
          <p:cNvPr id="15" name="Shape 12"/>
          <p:cNvSpPr/>
          <p:nvPr/>
        </p:nvSpPr>
        <p:spPr>
          <a:xfrm>
            <a:off x="9601200" y="4910328"/>
            <a:ext cx="0" cy="292608"/>
          </a:xfrm>
          <a:prstGeom prst="line">
            <a:avLst/>
          </a:prstGeom>
          <a:noFill/>
          <a:ln w="25400">
            <a:solidFill>
              <a:schemeClr val="accent6"/>
            </a:solidFill>
            <a:prstDash val="solid"/>
            <a:tailEnd type="triangle"/>
          </a:ln>
        </p:spPr>
      </p:sp>
      <p:sp>
        <p:nvSpPr>
          <p:cNvPr id="16" name="Text 13"/>
          <p:cNvSpPr/>
          <p:nvPr/>
        </p:nvSpPr>
        <p:spPr>
          <a:xfrm>
            <a:off x="7589520" y="5230368"/>
            <a:ext cx="4023360" cy="640080"/>
          </a:xfrm>
          <a:prstGeom prst="roundRect">
            <a:avLst>
              <a:gd name="adj" fmla="val 14286"/>
            </a:avLst>
          </a:prstGeom>
          <a:solidFill>
            <a:schemeClr val="bg2"/>
          </a:solidFill>
          <a:ln w="15875">
            <a:solidFill>
              <a:schemeClr val="accent6"/>
            </a:solidFill>
          </a:ln>
        </p:spPr>
        <p:txBody>
          <a:bodyPr wrap="square" lIns="0" tIns="0" rIns="0" bIns="0" rtlCol="0" anchor="ctr"/>
          <a:lstStyle/>
          <a:p>
            <a:pPr algn="ctr" indent="0" marL="0">
              <a:buNone/>
            </a:pPr>
            <a:r>
              <a:rPr lang="en-US" sz="1700" b="1" dirty="0">
                <a:solidFill>
                  <a:schemeClr val="tx1"/>
                </a:solidFill>
              </a:rPr>
              <a:t>Sorted Array</a:t>
            </a:r>
            <a:endParaRPr lang="en-US" sz="17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Working Principle</a:t>
            </a:r>
            <a:endParaRPr lang="en-US" sz="3600" dirty="0"/>
          </a:p>
        </p:txBody>
      </p:sp>
      <p:sp>
        <p:nvSpPr>
          <p:cNvPr id="3" name="Text 1"/>
          <p:cNvSpPr/>
          <p:nvPr/>
        </p:nvSpPr>
        <p:spPr>
          <a:xfrm>
            <a:off x="548640" y="1261872"/>
            <a:ext cx="274320" cy="274320"/>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 name="Text 2"/>
          <p:cNvSpPr txBox="1"/>
          <p:nvPr/>
        </p:nvSpPr>
        <p:spPr>
          <a:xfrm>
            <a:off x="960120" y="1234440"/>
            <a:ext cx="5120640" cy="329184"/>
          </a:xfrm>
          <a:prstGeom prst="rect">
            <a:avLst/>
          </a:prstGeom>
          <a:noFill/>
          <a:ln/>
        </p:spPr>
        <p:txBody>
          <a:bodyPr wrap="square" lIns="0" tIns="0" rIns="0" bIns="0" rtlCol="0" anchor="ctr"/>
          <a:lstStyle/>
          <a:p>
            <a:pPr indent="0" marL="0">
              <a:buNone/>
            </a:pPr>
            <a:r>
              <a:rPr lang="en-US" sz="1400" dirty="0">
                <a:solidFill>
                  <a:schemeClr val="tx1"/>
                </a:solidFill>
              </a:rPr>
              <a:t>Pivot = middle element: arr[low + (high - low) / 2]</a:t>
            </a:r>
            <a:endParaRPr lang="en-US" sz="1400" dirty="0"/>
          </a:p>
        </p:txBody>
      </p:sp>
      <p:sp>
        <p:nvSpPr>
          <p:cNvPr id="5" name="Text 3"/>
          <p:cNvSpPr/>
          <p:nvPr/>
        </p:nvSpPr>
        <p:spPr>
          <a:xfrm>
            <a:off x="548640" y="1627632"/>
            <a:ext cx="274320" cy="274320"/>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6" name="Text 4"/>
          <p:cNvSpPr txBox="1"/>
          <p:nvPr/>
        </p:nvSpPr>
        <p:spPr>
          <a:xfrm>
            <a:off x="960120" y="1600200"/>
            <a:ext cx="5120640" cy="329184"/>
          </a:xfrm>
          <a:prstGeom prst="rect">
            <a:avLst/>
          </a:prstGeom>
          <a:noFill/>
          <a:ln/>
        </p:spPr>
        <p:txBody>
          <a:bodyPr wrap="square" lIns="0" tIns="0" rIns="0" bIns="0" rtlCol="0" anchor="ctr"/>
          <a:lstStyle/>
          <a:p>
            <a:pPr indent="0" marL="0">
              <a:buNone/>
            </a:pPr>
            <a:r>
              <a:rPr lang="en-US" sz="1400" dirty="0">
                <a:solidFill>
                  <a:schemeClr val="tx1"/>
                </a:solidFill>
              </a:rPr>
              <a:t>Set two pointers: i = low, j = high</a:t>
            </a:r>
            <a:endParaRPr lang="en-US" sz="1400" dirty="0"/>
          </a:p>
        </p:txBody>
      </p:sp>
      <p:sp>
        <p:nvSpPr>
          <p:cNvPr id="7" name="Text 5"/>
          <p:cNvSpPr/>
          <p:nvPr/>
        </p:nvSpPr>
        <p:spPr>
          <a:xfrm>
            <a:off x="548640" y="1993392"/>
            <a:ext cx="274320" cy="27432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8" name="Text 6"/>
          <p:cNvSpPr txBox="1"/>
          <p:nvPr/>
        </p:nvSpPr>
        <p:spPr>
          <a:xfrm>
            <a:off x="960120" y="1965960"/>
            <a:ext cx="5120640" cy="329184"/>
          </a:xfrm>
          <a:prstGeom prst="rect">
            <a:avLst/>
          </a:prstGeom>
          <a:noFill/>
          <a:ln/>
        </p:spPr>
        <p:txBody>
          <a:bodyPr wrap="square" lIns="0" tIns="0" rIns="0" bIns="0" rtlCol="0" anchor="ctr"/>
          <a:lstStyle/>
          <a:p>
            <a:pPr indent="0" marL="0">
              <a:buNone/>
            </a:pPr>
            <a:r>
              <a:rPr lang="en-US" sz="1400" dirty="0">
                <a:solidFill>
                  <a:schemeClr val="tx1"/>
                </a:solidFill>
              </a:rPr>
              <a:t>Move i right while arr[i] &lt; pivot</a:t>
            </a:r>
            <a:endParaRPr lang="en-US" sz="1400" dirty="0"/>
          </a:p>
        </p:txBody>
      </p:sp>
      <p:sp>
        <p:nvSpPr>
          <p:cNvPr id="9" name="Text 7"/>
          <p:cNvSpPr/>
          <p:nvPr/>
        </p:nvSpPr>
        <p:spPr>
          <a:xfrm>
            <a:off x="548640" y="2359152"/>
            <a:ext cx="274320" cy="274320"/>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0" name="Text 8"/>
          <p:cNvSpPr txBox="1"/>
          <p:nvPr/>
        </p:nvSpPr>
        <p:spPr>
          <a:xfrm>
            <a:off x="960120" y="2331720"/>
            <a:ext cx="5120640" cy="329184"/>
          </a:xfrm>
          <a:prstGeom prst="rect">
            <a:avLst/>
          </a:prstGeom>
          <a:noFill/>
          <a:ln/>
        </p:spPr>
        <p:txBody>
          <a:bodyPr wrap="square" lIns="0" tIns="0" rIns="0" bIns="0" rtlCol="0" anchor="ctr"/>
          <a:lstStyle/>
          <a:p>
            <a:pPr indent="0" marL="0">
              <a:buNone/>
            </a:pPr>
            <a:r>
              <a:rPr lang="en-US" sz="1400" dirty="0">
                <a:solidFill>
                  <a:schemeClr val="tx1"/>
                </a:solidFill>
              </a:rPr>
              <a:t>Move j left while arr[j] &gt; pivot</a:t>
            </a:r>
            <a:endParaRPr lang="en-US" sz="1400" dirty="0"/>
          </a:p>
        </p:txBody>
      </p:sp>
      <p:sp>
        <p:nvSpPr>
          <p:cNvPr id="11" name="Text 9"/>
          <p:cNvSpPr/>
          <p:nvPr/>
        </p:nvSpPr>
        <p:spPr>
          <a:xfrm>
            <a:off x="548640" y="2724912"/>
            <a:ext cx="274320" cy="274320"/>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2" name="Text 10"/>
          <p:cNvSpPr txBox="1"/>
          <p:nvPr/>
        </p:nvSpPr>
        <p:spPr>
          <a:xfrm>
            <a:off x="960120" y="2697480"/>
            <a:ext cx="5120640" cy="329184"/>
          </a:xfrm>
          <a:prstGeom prst="rect">
            <a:avLst/>
          </a:prstGeom>
          <a:noFill/>
          <a:ln/>
        </p:spPr>
        <p:txBody>
          <a:bodyPr wrap="square" lIns="0" tIns="0" rIns="0" bIns="0" rtlCol="0" anchor="ctr"/>
          <a:lstStyle/>
          <a:p>
            <a:pPr indent="0" marL="0">
              <a:buNone/>
            </a:pPr>
            <a:r>
              <a:rPr lang="en-US" sz="1400" dirty="0">
                <a:solidFill>
                  <a:schemeClr val="tx1"/>
                </a:solidFill>
              </a:rPr>
              <a:t>If i &lt;= j, swap arr[i] and arr[j]</a:t>
            </a:r>
            <a:endParaRPr lang="en-US" sz="1400" dirty="0"/>
          </a:p>
        </p:txBody>
      </p:sp>
      <p:sp>
        <p:nvSpPr>
          <p:cNvPr id="13" name="Text 11"/>
          <p:cNvSpPr/>
          <p:nvPr/>
        </p:nvSpPr>
        <p:spPr>
          <a:xfrm>
            <a:off x="548640" y="3090672"/>
            <a:ext cx="274320" cy="274320"/>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14" name="Text 12"/>
          <p:cNvSpPr txBox="1"/>
          <p:nvPr/>
        </p:nvSpPr>
        <p:spPr>
          <a:xfrm>
            <a:off x="960120" y="3063240"/>
            <a:ext cx="5120640" cy="329184"/>
          </a:xfrm>
          <a:prstGeom prst="rect">
            <a:avLst/>
          </a:prstGeom>
          <a:noFill/>
          <a:ln/>
        </p:spPr>
        <p:txBody>
          <a:bodyPr wrap="square" lIns="0" tIns="0" rIns="0" bIns="0" rtlCol="0" anchor="ctr"/>
          <a:lstStyle/>
          <a:p>
            <a:pPr indent="0" marL="0">
              <a:buNone/>
            </a:pPr>
            <a:r>
              <a:rPr lang="en-US" sz="1400" dirty="0">
                <a:solidFill>
                  <a:schemeClr val="tx1"/>
                </a:solidFill>
              </a:rPr>
              <a:t>After the swap: i = i + 1, j = j - 1</a:t>
            </a:r>
            <a:endParaRPr lang="en-US" sz="1400" dirty="0"/>
          </a:p>
        </p:txBody>
      </p:sp>
      <p:sp>
        <p:nvSpPr>
          <p:cNvPr id="15" name="Text 13"/>
          <p:cNvSpPr/>
          <p:nvPr/>
        </p:nvSpPr>
        <p:spPr>
          <a:xfrm>
            <a:off x="548640" y="3456432"/>
            <a:ext cx="274320" cy="274320"/>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16" name="Text 14"/>
          <p:cNvSpPr txBox="1"/>
          <p:nvPr/>
        </p:nvSpPr>
        <p:spPr>
          <a:xfrm>
            <a:off x="960120" y="3429000"/>
            <a:ext cx="5120640" cy="329184"/>
          </a:xfrm>
          <a:prstGeom prst="rect">
            <a:avLst/>
          </a:prstGeom>
          <a:noFill/>
          <a:ln/>
        </p:spPr>
        <p:txBody>
          <a:bodyPr wrap="square" lIns="0" tIns="0" rIns="0" bIns="0" rtlCol="0" anchor="ctr"/>
          <a:lstStyle/>
          <a:p>
            <a:pPr indent="0" marL="0">
              <a:buNone/>
            </a:pPr>
            <a:r>
              <a:rPr lang="en-US" sz="1400" dirty="0">
                <a:solidFill>
                  <a:schemeClr val="tx1"/>
                </a:solidFill>
              </a:rPr>
              <a:t>Repeat the process until i &gt; j</a:t>
            </a:r>
            <a:endParaRPr lang="en-US" sz="1400" dirty="0"/>
          </a:p>
        </p:txBody>
      </p:sp>
      <p:sp>
        <p:nvSpPr>
          <p:cNvPr id="17" name="Text 15"/>
          <p:cNvSpPr/>
          <p:nvPr/>
        </p:nvSpPr>
        <p:spPr>
          <a:xfrm>
            <a:off x="548640" y="3822192"/>
            <a:ext cx="274320" cy="274320"/>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18" name="Text 16"/>
          <p:cNvSpPr txBox="1"/>
          <p:nvPr/>
        </p:nvSpPr>
        <p:spPr>
          <a:xfrm>
            <a:off x="960120" y="3794760"/>
            <a:ext cx="5120640" cy="329184"/>
          </a:xfrm>
          <a:prstGeom prst="rect">
            <a:avLst/>
          </a:prstGeom>
          <a:noFill/>
          <a:ln/>
        </p:spPr>
        <p:txBody>
          <a:bodyPr wrap="square" lIns="0" tIns="0" rIns="0" bIns="0" rtlCol="0" anchor="ctr"/>
          <a:lstStyle/>
          <a:p>
            <a:pPr indent="0" marL="0">
              <a:buNone/>
            </a:pPr>
            <a:r>
              <a:rPr lang="en-US" sz="1400" dirty="0">
                <a:solidFill>
                  <a:schemeClr val="tx1"/>
                </a:solidFill>
              </a:rPr>
              <a:t>Recurse on the partitions: low..j and i..high</a:t>
            </a:r>
            <a:endParaRPr lang="en-US" sz="1400" dirty="0"/>
          </a:p>
        </p:txBody>
      </p:sp>
      <p:sp>
        <p:nvSpPr>
          <p:cNvPr id="19" name="Shape 17"/>
          <p:cNvSpPr/>
          <p:nvPr/>
        </p:nvSpPr>
        <p:spPr>
          <a:xfrm>
            <a:off x="6355080" y="1234440"/>
            <a:ext cx="5303520" cy="2926080"/>
          </a:xfrm>
          <a:prstGeom prst="roundRect">
            <a:avLst>
              <a:gd name="adj" fmla="val 3125"/>
            </a:avLst>
          </a:prstGeom>
          <a:solidFill>
            <a:schemeClr val="bg2"/>
          </a:solidFill>
          <a:ln w="6350">
            <a:solidFill>
              <a:schemeClr val="bg2"/>
            </a:solidFill>
            <a:prstDash val="solid"/>
          </a:ln>
        </p:spPr>
      </p:sp>
      <p:sp>
        <p:nvSpPr>
          <p:cNvPr id="20" name="Text 18"/>
          <p:cNvSpPr txBox="1"/>
          <p:nvPr/>
        </p:nvSpPr>
        <p:spPr>
          <a:xfrm>
            <a:off x="6537960" y="1298448"/>
            <a:ext cx="4937760" cy="274320"/>
          </a:xfrm>
          <a:prstGeom prst="rect">
            <a:avLst/>
          </a:prstGeom>
          <a:noFill/>
          <a:ln/>
        </p:spPr>
        <p:txBody>
          <a:bodyPr wrap="square" lIns="0" tIns="0" rIns="0" bIns="0" rtlCol="0" anchor="ctr"/>
          <a:lstStyle/>
          <a:p>
            <a:pPr indent="0" marL="0">
              <a:buNone/>
            </a:pPr>
            <a:r>
              <a:rPr lang="en-US" sz="1200" dirty="0">
                <a:solidFill>
                  <a:schemeClr val="accent6"/>
                </a:solidFill>
              </a:rPr>
              <a:t>Partition on [8, 3, 1, 7, 0, 10, 2]</a:t>
            </a:r>
            <a:endParaRPr lang="en-US" sz="1200" dirty="0"/>
          </a:p>
        </p:txBody>
      </p:sp>
      <p:sp>
        <p:nvSpPr>
          <p:cNvPr id="21" name="Text 19"/>
          <p:cNvSpPr txBox="1"/>
          <p:nvPr/>
        </p:nvSpPr>
        <p:spPr>
          <a:xfrm>
            <a:off x="7607808" y="1627632"/>
            <a:ext cx="2852928" cy="256032"/>
          </a:xfrm>
          <a:prstGeom prst="rect">
            <a:avLst/>
          </a:prstGeom>
          <a:noFill/>
          <a:ln/>
        </p:spPr>
        <p:txBody>
          <a:bodyPr wrap="square" lIns="0" tIns="0" rIns="0" bIns="0" rtlCol="0" anchor="ctr"/>
          <a:lstStyle/>
          <a:p>
            <a:pPr algn="ctr" indent="0" marL="0">
              <a:buNone/>
            </a:pPr>
            <a:r>
              <a:rPr lang="en-US" sz="1300" b="1" dirty="0">
                <a:solidFill>
                  <a:schemeClr val="tx1"/>
                </a:solidFill>
              </a:rPr>
              <a:t>swap(8, 2) because i &lt;= j</a:t>
            </a:r>
            <a:endParaRPr lang="en-US" sz="1300" dirty="0"/>
          </a:p>
        </p:txBody>
      </p:sp>
      <p:sp>
        <p:nvSpPr>
          <p:cNvPr id="22" name="Shape 20"/>
          <p:cNvSpPr/>
          <p:nvPr/>
        </p:nvSpPr>
        <p:spPr>
          <a:xfrm>
            <a:off x="6894576" y="1956816"/>
            <a:ext cx="4279392" cy="0"/>
          </a:xfrm>
          <a:prstGeom prst="line">
            <a:avLst/>
          </a:prstGeom>
          <a:noFill/>
          <a:ln w="31750">
            <a:solidFill>
              <a:schemeClr val="accent4"/>
            </a:solidFill>
            <a:prstDash val="solid"/>
            <a:headEnd type="triangle"/>
            <a:tailEnd type="triangle"/>
          </a:ln>
        </p:spPr>
      </p:sp>
      <p:sp>
        <p:nvSpPr>
          <p:cNvPr id="23" name="Text 21"/>
          <p:cNvSpPr txBox="1"/>
          <p:nvPr/>
        </p:nvSpPr>
        <p:spPr>
          <a:xfrm>
            <a:off x="6711696"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24" name="Text 22"/>
          <p:cNvSpPr txBox="1"/>
          <p:nvPr/>
        </p:nvSpPr>
        <p:spPr>
          <a:xfrm>
            <a:off x="7424928"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25" name="Text 23"/>
          <p:cNvSpPr txBox="1"/>
          <p:nvPr/>
        </p:nvSpPr>
        <p:spPr>
          <a:xfrm>
            <a:off x="8138160"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26" name="Text 24"/>
          <p:cNvSpPr txBox="1"/>
          <p:nvPr/>
        </p:nvSpPr>
        <p:spPr>
          <a:xfrm>
            <a:off x="8851392"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3</a:t>
            </a:r>
            <a:endParaRPr lang="en-US" sz="1000" dirty="0"/>
          </a:p>
        </p:txBody>
      </p:sp>
      <p:sp>
        <p:nvSpPr>
          <p:cNvPr id="27" name="Text 25"/>
          <p:cNvSpPr txBox="1"/>
          <p:nvPr/>
        </p:nvSpPr>
        <p:spPr>
          <a:xfrm>
            <a:off x="9564624"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28" name="Text 26"/>
          <p:cNvSpPr txBox="1"/>
          <p:nvPr/>
        </p:nvSpPr>
        <p:spPr>
          <a:xfrm>
            <a:off x="10277856"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5</a:t>
            </a:r>
            <a:endParaRPr lang="en-US" sz="1000" dirty="0"/>
          </a:p>
        </p:txBody>
      </p:sp>
      <p:sp>
        <p:nvSpPr>
          <p:cNvPr id="29" name="Text 27"/>
          <p:cNvSpPr txBox="1"/>
          <p:nvPr/>
        </p:nvSpPr>
        <p:spPr>
          <a:xfrm>
            <a:off x="10991088" y="2029968"/>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6</a:t>
            </a:r>
            <a:endParaRPr lang="en-US" sz="1000" dirty="0"/>
          </a:p>
        </p:txBody>
      </p:sp>
      <p:sp>
        <p:nvSpPr>
          <p:cNvPr id="30" name="Text 28"/>
          <p:cNvSpPr/>
          <p:nvPr/>
        </p:nvSpPr>
        <p:spPr>
          <a:xfrm>
            <a:off x="6583680" y="2240280"/>
            <a:ext cx="621792" cy="621792"/>
          </a:xfrm>
          <a:prstGeom prst="rect">
            <a:avLst/>
          </a:prstGeom>
          <a:solidFill>
            <a:schemeClr val="accent4">
              <a:alpha val="55000"/>
            </a:schemeClr>
          </a:solidFill>
          <a:ln w="31750">
            <a:solidFill>
              <a:schemeClr val="accent4"/>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8</a:t>
            </a:r>
            <a:endParaRPr lang="en-US" sz="2000" dirty="0"/>
          </a:p>
        </p:txBody>
      </p:sp>
      <p:sp>
        <p:nvSpPr>
          <p:cNvPr id="31" name="Text 29"/>
          <p:cNvSpPr/>
          <p:nvPr/>
        </p:nvSpPr>
        <p:spPr>
          <a:xfrm>
            <a:off x="7296912" y="2240280"/>
            <a:ext cx="621792" cy="621792"/>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3</a:t>
            </a:r>
            <a:endParaRPr lang="en-US" sz="2000" dirty="0"/>
          </a:p>
        </p:txBody>
      </p:sp>
      <p:sp>
        <p:nvSpPr>
          <p:cNvPr id="32" name="Text 30"/>
          <p:cNvSpPr/>
          <p:nvPr/>
        </p:nvSpPr>
        <p:spPr>
          <a:xfrm>
            <a:off x="8010144" y="2240280"/>
            <a:ext cx="621792" cy="621792"/>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1</a:t>
            </a:r>
            <a:endParaRPr lang="en-US" sz="2000" dirty="0"/>
          </a:p>
        </p:txBody>
      </p:sp>
      <p:sp>
        <p:nvSpPr>
          <p:cNvPr id="33" name="Text 31"/>
          <p:cNvSpPr/>
          <p:nvPr/>
        </p:nvSpPr>
        <p:spPr>
          <a:xfrm>
            <a:off x="8723376" y="2240280"/>
            <a:ext cx="621792" cy="621792"/>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2000" b="1" dirty="0">
                <a:solidFill>
                  <a:schemeClr val="bg1"/>
                </a:solidFill>
                <a:latin typeface="Courier New" pitchFamily="34" charset="0"/>
                <a:ea typeface="Courier New" pitchFamily="34" charset="-122"/>
                <a:cs typeface="Courier New" pitchFamily="34" charset="-120"/>
              </a:rPr>
              <a:t>7</a:t>
            </a:r>
            <a:endParaRPr lang="en-US" sz="2000" dirty="0"/>
          </a:p>
        </p:txBody>
      </p:sp>
      <p:sp>
        <p:nvSpPr>
          <p:cNvPr id="34" name="Text 32"/>
          <p:cNvSpPr/>
          <p:nvPr/>
        </p:nvSpPr>
        <p:spPr>
          <a:xfrm>
            <a:off x="9436608" y="2240280"/>
            <a:ext cx="621792" cy="621792"/>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0</a:t>
            </a:r>
            <a:endParaRPr lang="en-US" sz="2000" dirty="0"/>
          </a:p>
        </p:txBody>
      </p:sp>
      <p:sp>
        <p:nvSpPr>
          <p:cNvPr id="35" name="Text 33"/>
          <p:cNvSpPr/>
          <p:nvPr/>
        </p:nvSpPr>
        <p:spPr>
          <a:xfrm>
            <a:off x="10149840" y="2240280"/>
            <a:ext cx="621792" cy="621792"/>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10</a:t>
            </a:r>
            <a:endParaRPr lang="en-US" sz="2000" dirty="0"/>
          </a:p>
        </p:txBody>
      </p:sp>
      <p:sp>
        <p:nvSpPr>
          <p:cNvPr id="36" name="Text 34"/>
          <p:cNvSpPr/>
          <p:nvPr/>
        </p:nvSpPr>
        <p:spPr>
          <a:xfrm>
            <a:off x="10863072" y="2240280"/>
            <a:ext cx="621792" cy="621792"/>
          </a:xfrm>
          <a:prstGeom prst="rect">
            <a:avLst/>
          </a:prstGeom>
          <a:solidFill>
            <a:schemeClr val="accent4">
              <a:alpha val="55000"/>
            </a:schemeClr>
          </a:solidFill>
          <a:ln w="31750">
            <a:solidFill>
              <a:schemeClr val="accent4"/>
            </a:solidFill>
          </a:ln>
        </p:spPr>
        <p:txBody>
          <a:bodyPr wrap="square" lIns="0" tIns="0" rIns="0" bIns="0" rtlCol="0" anchor="ctr"/>
          <a:lstStyle/>
          <a:p>
            <a:pPr algn="ctr" indent="0" marL="0">
              <a:buNone/>
            </a:pPr>
            <a:r>
              <a:rPr lang="en-US" sz="2000" b="1" dirty="0">
                <a:solidFill>
                  <a:schemeClr val="tx1"/>
                </a:solidFill>
                <a:latin typeface="Courier New" pitchFamily="34" charset="0"/>
                <a:ea typeface="Courier New" pitchFamily="34" charset="-122"/>
                <a:cs typeface="Courier New" pitchFamily="34" charset="-120"/>
              </a:rPr>
              <a:t>2</a:t>
            </a:r>
            <a:endParaRPr lang="en-US" sz="2000" dirty="0"/>
          </a:p>
        </p:txBody>
      </p:sp>
      <p:sp>
        <p:nvSpPr>
          <p:cNvPr id="37" name="Shape 35"/>
          <p:cNvSpPr/>
          <p:nvPr/>
        </p:nvSpPr>
        <p:spPr>
          <a:xfrm>
            <a:off x="6821424" y="2926080"/>
            <a:ext cx="146304" cy="91440"/>
          </a:xfrm>
          <a:prstGeom prst="triangle">
            <a:avLst/>
          </a:prstGeom>
          <a:solidFill>
            <a:schemeClr val="accent1"/>
          </a:solidFill>
          <a:ln w="6350">
            <a:solidFill>
              <a:schemeClr val="accent1"/>
            </a:solidFill>
            <a:prstDash val="solid"/>
          </a:ln>
        </p:spPr>
      </p:sp>
      <p:sp>
        <p:nvSpPr>
          <p:cNvPr id="38" name="Text 36"/>
          <p:cNvSpPr txBox="1"/>
          <p:nvPr/>
        </p:nvSpPr>
        <p:spPr>
          <a:xfrm>
            <a:off x="6483096" y="3017520"/>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39" name="Shape 37"/>
          <p:cNvSpPr/>
          <p:nvPr/>
        </p:nvSpPr>
        <p:spPr>
          <a:xfrm>
            <a:off x="8961120" y="2926080"/>
            <a:ext cx="146304" cy="91440"/>
          </a:xfrm>
          <a:prstGeom prst="triangle">
            <a:avLst/>
          </a:prstGeom>
          <a:solidFill>
            <a:schemeClr val="accent2"/>
          </a:solidFill>
          <a:ln w="6350">
            <a:solidFill>
              <a:schemeClr val="accent2"/>
            </a:solidFill>
            <a:prstDash val="solid"/>
          </a:ln>
        </p:spPr>
      </p:sp>
      <p:sp>
        <p:nvSpPr>
          <p:cNvPr id="40" name="Text 38"/>
          <p:cNvSpPr txBox="1"/>
          <p:nvPr/>
        </p:nvSpPr>
        <p:spPr>
          <a:xfrm>
            <a:off x="8622792" y="3017520"/>
            <a:ext cx="822960" cy="201168"/>
          </a:xfrm>
          <a:prstGeom prst="rect">
            <a:avLst/>
          </a:prstGeom>
          <a:noFill/>
          <a:ln/>
        </p:spPr>
        <p:txBody>
          <a:bodyPr wrap="square" lIns="0" tIns="0" rIns="0" bIns="0" rtlCol="0" anchor="ctr"/>
          <a:lstStyle/>
          <a:p>
            <a:pPr algn="ctr" indent="0" marL="0">
              <a:buNone/>
            </a:pPr>
            <a:r>
              <a:rPr lang="en-US" sz="1200" b="1" dirty="0">
                <a:solidFill>
                  <a:schemeClr val="accent2"/>
                </a:solidFill>
              </a:rPr>
              <a:t>pivot</a:t>
            </a:r>
            <a:endParaRPr lang="en-US" sz="1200" dirty="0"/>
          </a:p>
        </p:txBody>
      </p:sp>
      <p:sp>
        <p:nvSpPr>
          <p:cNvPr id="41" name="Shape 39"/>
          <p:cNvSpPr/>
          <p:nvPr/>
        </p:nvSpPr>
        <p:spPr>
          <a:xfrm>
            <a:off x="11100816" y="2926080"/>
            <a:ext cx="146304" cy="91440"/>
          </a:xfrm>
          <a:prstGeom prst="triangle">
            <a:avLst/>
          </a:prstGeom>
          <a:solidFill>
            <a:schemeClr val="accent3"/>
          </a:solidFill>
          <a:ln w="6350">
            <a:solidFill>
              <a:schemeClr val="accent3"/>
            </a:solidFill>
            <a:prstDash val="solid"/>
          </a:ln>
        </p:spPr>
      </p:sp>
      <p:sp>
        <p:nvSpPr>
          <p:cNvPr id="42" name="Text 40"/>
          <p:cNvSpPr txBox="1"/>
          <p:nvPr/>
        </p:nvSpPr>
        <p:spPr>
          <a:xfrm>
            <a:off x="10762488" y="3017520"/>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43" name="Shape 41"/>
          <p:cNvSpPr/>
          <p:nvPr/>
        </p:nvSpPr>
        <p:spPr>
          <a:xfrm>
            <a:off x="6986016" y="3547872"/>
            <a:ext cx="1591056" cy="0"/>
          </a:xfrm>
          <a:prstGeom prst="line">
            <a:avLst/>
          </a:prstGeom>
          <a:noFill/>
          <a:ln w="25400">
            <a:solidFill>
              <a:schemeClr val="accent1"/>
            </a:solidFill>
            <a:prstDash val="solid"/>
            <a:tailEnd type="triangle"/>
          </a:ln>
        </p:spPr>
      </p:sp>
      <p:sp>
        <p:nvSpPr>
          <p:cNvPr id="44" name="Shape 42"/>
          <p:cNvSpPr/>
          <p:nvPr/>
        </p:nvSpPr>
        <p:spPr>
          <a:xfrm flipH="1">
            <a:off x="9491472" y="3547872"/>
            <a:ext cx="1591056" cy="0"/>
          </a:xfrm>
          <a:prstGeom prst="line">
            <a:avLst/>
          </a:prstGeom>
          <a:noFill/>
          <a:ln w="25400">
            <a:solidFill>
              <a:schemeClr val="accent3"/>
            </a:solidFill>
            <a:prstDash val="solid"/>
            <a:tailEnd type="triangle"/>
          </a:ln>
        </p:spPr>
      </p:sp>
      <p:sp>
        <p:nvSpPr>
          <p:cNvPr id="45" name="Text 43"/>
          <p:cNvSpPr txBox="1"/>
          <p:nvPr/>
        </p:nvSpPr>
        <p:spPr>
          <a:xfrm>
            <a:off x="6574536" y="3639312"/>
            <a:ext cx="2240280" cy="411480"/>
          </a:xfrm>
          <a:prstGeom prst="rect">
            <a:avLst/>
          </a:prstGeom>
          <a:noFill/>
          <a:ln/>
        </p:spPr>
        <p:txBody>
          <a:bodyPr wrap="square" lIns="0" tIns="0" rIns="0" bIns="0" rtlCol="0" anchor="ctr"/>
          <a:lstStyle/>
          <a:p>
            <a:pPr indent="0" marL="0">
              <a:buNone/>
            </a:pPr>
            <a:r>
              <a:rPr lang="en-US" sz="1100" b="1" dirty="0">
                <a:solidFill>
                  <a:schemeClr val="accent1"/>
                </a:solidFill>
              </a:rPr>
              <a:t>i moves right while arr[i] &lt; pivot</a:t>
            </a:r>
            <a:endParaRPr lang="en-US" sz="1100" dirty="0"/>
          </a:p>
        </p:txBody>
      </p:sp>
      <p:sp>
        <p:nvSpPr>
          <p:cNvPr id="46" name="Text 44"/>
          <p:cNvSpPr txBox="1"/>
          <p:nvPr/>
        </p:nvSpPr>
        <p:spPr>
          <a:xfrm>
            <a:off x="9445752" y="3639312"/>
            <a:ext cx="2011680" cy="411480"/>
          </a:xfrm>
          <a:prstGeom prst="rect">
            <a:avLst/>
          </a:prstGeom>
          <a:noFill/>
          <a:ln/>
        </p:spPr>
        <p:txBody>
          <a:bodyPr wrap="square" lIns="0" tIns="0" rIns="0" bIns="0" rtlCol="0" anchor="ctr"/>
          <a:lstStyle/>
          <a:p>
            <a:pPr algn="r" indent="0" marL="0">
              <a:buNone/>
            </a:pPr>
            <a:r>
              <a:rPr lang="en-US" sz="1100" b="1" dirty="0">
                <a:solidFill>
                  <a:schemeClr val="accent3"/>
                </a:solidFill>
              </a:rPr>
              <a:t>j moves left while arr[j] &gt; pivot</a:t>
            </a:r>
            <a:endParaRPr lang="en-US" sz="1100" dirty="0"/>
          </a:p>
        </p:txBody>
      </p:sp>
      <p:sp>
        <p:nvSpPr>
          <p:cNvPr id="47" name="Shape 45"/>
          <p:cNvSpPr/>
          <p:nvPr/>
        </p:nvSpPr>
        <p:spPr>
          <a:xfrm>
            <a:off x="548640" y="4389120"/>
            <a:ext cx="5440680" cy="1920240"/>
          </a:xfrm>
          <a:prstGeom prst="roundRect">
            <a:avLst>
              <a:gd name="adj" fmla="val 4762"/>
            </a:avLst>
          </a:prstGeom>
          <a:solidFill>
            <a:schemeClr val="bg2"/>
          </a:solidFill>
          <a:ln w="6350">
            <a:solidFill>
              <a:schemeClr val="bg2"/>
            </a:solidFill>
            <a:prstDash val="solid"/>
          </a:ln>
        </p:spPr>
      </p:sp>
      <p:sp>
        <p:nvSpPr>
          <p:cNvPr id="48" name="Text 46"/>
          <p:cNvSpPr txBox="1"/>
          <p:nvPr/>
        </p:nvSpPr>
        <p:spPr>
          <a:xfrm>
            <a:off x="777240" y="4480560"/>
            <a:ext cx="4937760" cy="365760"/>
          </a:xfrm>
          <a:prstGeom prst="rect">
            <a:avLst/>
          </a:prstGeom>
          <a:noFill/>
          <a:ln/>
        </p:spPr>
        <p:txBody>
          <a:bodyPr wrap="square" lIns="0" tIns="0" rIns="0" bIns="0" rtlCol="0" anchor="ctr"/>
          <a:lstStyle/>
          <a:p>
            <a:pPr indent="0" marL="0">
              <a:buNone/>
            </a:pPr>
            <a:r>
              <a:rPr lang="en-US" sz="1700" b="1" dirty="0">
                <a:solidFill>
                  <a:schemeClr val="accent2"/>
                </a:solidFill>
              </a:rPr>
              <a:t>Selecting the pivot</a:t>
            </a:r>
            <a:endParaRPr lang="en-US" sz="1700" dirty="0"/>
          </a:p>
        </p:txBody>
      </p:sp>
      <p:sp>
        <p:nvSpPr>
          <p:cNvPr id="49" name="Text 47"/>
          <p:cNvSpPr txBox="1"/>
          <p:nvPr/>
        </p:nvSpPr>
        <p:spPr>
          <a:xfrm>
            <a:off x="777240" y="4892040"/>
            <a:ext cx="5029200" cy="1325880"/>
          </a:xfrm>
          <a:prstGeom prst="rect">
            <a:avLst/>
          </a:prstGeom>
          <a:noFill/>
          <a:ln/>
        </p:spPr>
        <p:txBody>
          <a:bodyPr wrap="square" lIns="0" tIns="0" rIns="0" bIns="0" rtlCol="0" anchor="t"/>
          <a:lstStyle/>
          <a:p>
            <a:pPr indent="0" marL="0">
              <a:buNone/>
            </a:pPr>
            <a:r>
              <a:rPr lang="en-US" sz="1600" dirty="0">
                <a:solidFill>
                  <a:schemeClr val="tx1"/>
                </a:solidFill>
              </a:rPr>
              <a:t>pivot = arr[low + (high - low) / 2] only chooses the value that i and j compare against. It does not place that element anywhere.</a:t>
            </a:r>
            <a:endParaRPr lang="en-US" sz="1600" dirty="0"/>
          </a:p>
        </p:txBody>
      </p:sp>
      <p:sp>
        <p:nvSpPr>
          <p:cNvPr id="50" name="Shape 48"/>
          <p:cNvSpPr/>
          <p:nvPr/>
        </p:nvSpPr>
        <p:spPr>
          <a:xfrm>
            <a:off x="6217920" y="4389120"/>
            <a:ext cx="5440680" cy="1920240"/>
          </a:xfrm>
          <a:prstGeom prst="roundRect">
            <a:avLst>
              <a:gd name="adj" fmla="val 4762"/>
            </a:avLst>
          </a:prstGeom>
          <a:solidFill>
            <a:schemeClr val="bg2"/>
          </a:solidFill>
          <a:ln w="6350">
            <a:solidFill>
              <a:schemeClr val="bg2"/>
            </a:solidFill>
            <a:prstDash val="solid"/>
          </a:ln>
        </p:spPr>
      </p:sp>
      <p:sp>
        <p:nvSpPr>
          <p:cNvPr id="51" name="Text 49"/>
          <p:cNvSpPr txBox="1"/>
          <p:nvPr/>
        </p:nvSpPr>
        <p:spPr>
          <a:xfrm>
            <a:off x="6446520" y="4480560"/>
            <a:ext cx="4937760" cy="365760"/>
          </a:xfrm>
          <a:prstGeom prst="rect">
            <a:avLst/>
          </a:prstGeom>
          <a:noFill/>
          <a:ln/>
        </p:spPr>
        <p:txBody>
          <a:bodyPr wrap="square" lIns="0" tIns="0" rIns="0" bIns="0" rtlCol="0" anchor="ctr"/>
          <a:lstStyle/>
          <a:p>
            <a:pPr indent="0" marL="0">
              <a:buNone/>
            </a:pPr>
            <a:r>
              <a:rPr lang="en-US" sz="1700" b="1" dirty="0">
                <a:solidFill>
                  <a:schemeClr val="accent1"/>
                </a:solidFill>
              </a:rPr>
              <a:t>Final sorted position</a:t>
            </a:r>
            <a:endParaRPr lang="en-US" sz="1700" dirty="0"/>
          </a:p>
        </p:txBody>
      </p:sp>
      <p:sp>
        <p:nvSpPr>
          <p:cNvPr id="52" name="Text 50"/>
          <p:cNvSpPr txBox="1"/>
          <p:nvPr/>
        </p:nvSpPr>
        <p:spPr>
          <a:xfrm>
            <a:off x="6446520" y="4892040"/>
            <a:ext cx="5029200" cy="1325880"/>
          </a:xfrm>
          <a:prstGeom prst="rect">
            <a:avLst/>
          </a:prstGeom>
          <a:noFill/>
          <a:ln/>
        </p:spPr>
        <p:txBody>
          <a:bodyPr wrap="square" lIns="0" tIns="0" rIns="0" bIns="0" rtlCol="0" anchor="t"/>
          <a:lstStyle/>
          <a:p>
            <a:pPr indent="0" marL="0">
              <a:buNone/>
            </a:pPr>
            <a:r>
              <a:rPr lang="en-US" sz="1600" dirty="0">
                <a:solidFill>
                  <a:schemeClr val="tx1"/>
                </a:solidFill>
              </a:rPr>
              <a:t>When i &gt; j, everything in low..j is &lt;= pivot and everything in i..high is &gt;= pivot. Swaps can move the pivot value, so it is not guaranteed to reach its final sorted position yet; both sides are sorted recursively.</a:t>
            </a:r>
            <a:endParaRPr lang="en-US" sz="16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Step-by-Step Worked Example</a:t>
            </a:r>
            <a:endParaRPr lang="en-US" sz="3600" dirty="0"/>
          </a:p>
        </p:txBody>
      </p:sp>
      <p:sp>
        <p:nvSpPr>
          <p:cNvPr id="3" name="Shape 1"/>
          <p:cNvSpPr/>
          <p:nvPr/>
        </p:nvSpPr>
        <p:spPr>
          <a:xfrm>
            <a:off x="7589520" y="566928"/>
            <a:ext cx="182880" cy="182880"/>
          </a:xfrm>
          <a:prstGeom prst="rect">
            <a:avLst/>
          </a:prstGeom>
          <a:solidFill>
            <a:schemeClr val="accent2"/>
          </a:solidFill>
          <a:ln w="6350">
            <a:solidFill>
              <a:schemeClr val="accent2"/>
            </a:solidFill>
            <a:prstDash val="solid"/>
          </a:ln>
        </p:spPr>
      </p:sp>
      <p:sp>
        <p:nvSpPr>
          <p:cNvPr id="4" name="Text 2"/>
          <p:cNvSpPr txBox="1"/>
          <p:nvPr/>
        </p:nvSpPr>
        <p:spPr>
          <a:xfrm>
            <a:off x="7836408" y="521208"/>
            <a:ext cx="777240" cy="274320"/>
          </a:xfrm>
          <a:prstGeom prst="rect">
            <a:avLst/>
          </a:prstGeom>
          <a:noFill/>
          <a:ln/>
        </p:spPr>
        <p:txBody>
          <a:bodyPr wrap="square" lIns="0" tIns="0" rIns="0" bIns="0" rtlCol="0" anchor="ctr"/>
          <a:lstStyle/>
          <a:p>
            <a:pPr indent="0" marL="0">
              <a:buNone/>
            </a:pPr>
            <a:r>
              <a:rPr lang="en-US" sz="1100" dirty="0">
                <a:solidFill>
                  <a:schemeClr val="tx1"/>
                </a:solidFill>
              </a:rPr>
              <a:t>pivot</a:t>
            </a:r>
            <a:endParaRPr lang="en-US" sz="1100" dirty="0"/>
          </a:p>
        </p:txBody>
      </p:sp>
      <p:sp>
        <p:nvSpPr>
          <p:cNvPr id="5" name="Shape 3"/>
          <p:cNvSpPr/>
          <p:nvPr/>
        </p:nvSpPr>
        <p:spPr>
          <a:xfrm>
            <a:off x="8641080" y="566928"/>
            <a:ext cx="182880" cy="182880"/>
          </a:xfrm>
          <a:prstGeom prst="rect">
            <a:avLst/>
          </a:prstGeom>
          <a:solidFill>
            <a:schemeClr val="accent1"/>
          </a:solidFill>
          <a:ln w="6350">
            <a:solidFill>
              <a:schemeClr val="accent1"/>
            </a:solidFill>
            <a:prstDash val="solid"/>
          </a:ln>
        </p:spPr>
      </p:sp>
      <p:sp>
        <p:nvSpPr>
          <p:cNvPr id="6" name="Text 4"/>
          <p:cNvSpPr txBox="1"/>
          <p:nvPr/>
        </p:nvSpPr>
        <p:spPr>
          <a:xfrm>
            <a:off x="8887968" y="521208"/>
            <a:ext cx="777240" cy="274320"/>
          </a:xfrm>
          <a:prstGeom prst="rect">
            <a:avLst/>
          </a:prstGeom>
          <a:noFill/>
          <a:ln/>
        </p:spPr>
        <p:txBody>
          <a:bodyPr wrap="square" lIns="0" tIns="0" rIns="0" bIns="0" rtlCol="0" anchor="ctr"/>
          <a:lstStyle/>
          <a:p>
            <a:pPr indent="0" marL="0">
              <a:buNone/>
            </a:pPr>
            <a:r>
              <a:rPr lang="en-US" sz="1100" dirty="0">
                <a:solidFill>
                  <a:schemeClr val="tx1"/>
                </a:solidFill>
              </a:rPr>
              <a:t>pointer i</a:t>
            </a:r>
            <a:endParaRPr lang="en-US" sz="1100" dirty="0"/>
          </a:p>
        </p:txBody>
      </p:sp>
      <p:sp>
        <p:nvSpPr>
          <p:cNvPr id="7" name="Shape 5"/>
          <p:cNvSpPr/>
          <p:nvPr/>
        </p:nvSpPr>
        <p:spPr>
          <a:xfrm>
            <a:off x="9692640" y="566928"/>
            <a:ext cx="182880" cy="182880"/>
          </a:xfrm>
          <a:prstGeom prst="rect">
            <a:avLst/>
          </a:prstGeom>
          <a:solidFill>
            <a:schemeClr val="accent3"/>
          </a:solidFill>
          <a:ln w="6350">
            <a:solidFill>
              <a:schemeClr val="accent3"/>
            </a:solidFill>
            <a:prstDash val="solid"/>
          </a:ln>
        </p:spPr>
      </p:sp>
      <p:sp>
        <p:nvSpPr>
          <p:cNvPr id="8" name="Text 6"/>
          <p:cNvSpPr txBox="1"/>
          <p:nvPr/>
        </p:nvSpPr>
        <p:spPr>
          <a:xfrm>
            <a:off x="9939528" y="521208"/>
            <a:ext cx="777240" cy="274320"/>
          </a:xfrm>
          <a:prstGeom prst="rect">
            <a:avLst/>
          </a:prstGeom>
          <a:noFill/>
          <a:ln/>
        </p:spPr>
        <p:txBody>
          <a:bodyPr wrap="square" lIns="0" tIns="0" rIns="0" bIns="0" rtlCol="0" anchor="ctr"/>
          <a:lstStyle/>
          <a:p>
            <a:pPr indent="0" marL="0">
              <a:buNone/>
            </a:pPr>
            <a:r>
              <a:rPr lang="en-US" sz="1100" dirty="0">
                <a:solidFill>
                  <a:schemeClr val="tx1"/>
                </a:solidFill>
              </a:rPr>
              <a:t>pointer j</a:t>
            </a:r>
            <a:endParaRPr lang="en-US" sz="1100" dirty="0"/>
          </a:p>
        </p:txBody>
      </p:sp>
      <p:sp>
        <p:nvSpPr>
          <p:cNvPr id="9" name="Shape 7"/>
          <p:cNvSpPr/>
          <p:nvPr/>
        </p:nvSpPr>
        <p:spPr>
          <a:xfrm>
            <a:off x="10744200" y="566928"/>
            <a:ext cx="182880" cy="182880"/>
          </a:xfrm>
          <a:prstGeom prst="rect">
            <a:avLst/>
          </a:prstGeom>
          <a:solidFill>
            <a:schemeClr val="accent4"/>
          </a:solidFill>
          <a:ln w="6350">
            <a:solidFill>
              <a:schemeClr val="accent4"/>
            </a:solidFill>
            <a:prstDash val="solid"/>
          </a:ln>
        </p:spPr>
      </p:sp>
      <p:sp>
        <p:nvSpPr>
          <p:cNvPr id="10" name="Text 8"/>
          <p:cNvSpPr txBox="1"/>
          <p:nvPr/>
        </p:nvSpPr>
        <p:spPr>
          <a:xfrm>
            <a:off x="10991088" y="521208"/>
            <a:ext cx="777240" cy="274320"/>
          </a:xfrm>
          <a:prstGeom prst="rect">
            <a:avLst/>
          </a:prstGeom>
          <a:noFill/>
          <a:ln/>
        </p:spPr>
        <p:txBody>
          <a:bodyPr wrap="square" lIns="0" tIns="0" rIns="0" bIns="0" rtlCol="0" anchor="ctr"/>
          <a:lstStyle/>
          <a:p>
            <a:pPr indent="0" marL="0">
              <a:buNone/>
            </a:pPr>
            <a:r>
              <a:rPr lang="en-US" sz="1100" dirty="0">
                <a:solidFill>
                  <a:schemeClr val="tx1"/>
                </a:solidFill>
              </a:rPr>
              <a:t>swapped</a:t>
            </a:r>
            <a:endParaRPr lang="en-US" sz="1100" dirty="0"/>
          </a:p>
        </p:txBody>
      </p:sp>
      <p:sp>
        <p:nvSpPr>
          <p:cNvPr id="11" name="Text 9"/>
          <p:cNvSpPr txBox="1"/>
          <p:nvPr/>
        </p:nvSpPr>
        <p:spPr>
          <a:xfrm>
            <a:off x="548640" y="1280160"/>
            <a:ext cx="2240280" cy="685800"/>
          </a:xfrm>
          <a:prstGeom prst="rect">
            <a:avLst/>
          </a:prstGeom>
          <a:noFill/>
          <a:ln/>
        </p:spPr>
        <p:txBody>
          <a:bodyPr wrap="square" lIns="0" tIns="0" rIns="0" bIns="0" rtlCol="0" anchor="t"/>
          <a:lstStyle/>
          <a:p>
            <a:pPr indent="0" marL="0">
              <a:buNone/>
            </a:pPr>
            <a:r>
              <a:rPr lang="en-US" sz="1500" b="1" dirty="0">
                <a:solidFill>
                  <a:schemeClr val="tx2"/>
                </a:solidFill>
              </a:rPr>
              <a:t>Start</a:t>
            </a:r>
            <a:endParaRPr lang="en-US" sz="1500" dirty="0"/>
          </a:p>
          <a:p>
            <a:pPr indent="0" marL="0">
              <a:buNone/>
            </a:pPr>
            <a:r>
              <a:rPr lang="en-US" sz="1200" dirty="0">
                <a:solidFill>
                  <a:schemeClr val="accent6"/>
                </a:solidFill>
              </a:rPr>
              <a:t>low = 0, high = 6</a:t>
            </a:r>
            <a:endParaRPr lang="en-US" sz="1500" dirty="0"/>
          </a:p>
          <a:p>
            <a:pPr indent="0" marL="0">
              <a:buNone/>
            </a:pPr>
            <a:r>
              <a:rPr lang="en-US" sz="1200" b="1" dirty="0">
                <a:solidFill>
                  <a:schemeClr val="accent2"/>
                </a:solidFill>
              </a:rPr>
              <a:t>pivot = arr[3] = 7</a:t>
            </a:r>
            <a:endParaRPr lang="en-US" sz="1500" dirty="0"/>
          </a:p>
        </p:txBody>
      </p:sp>
      <p:sp>
        <p:nvSpPr>
          <p:cNvPr id="12" name="Text 10"/>
          <p:cNvSpPr/>
          <p:nvPr/>
        </p:nvSpPr>
        <p:spPr>
          <a:xfrm>
            <a:off x="2926080"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8</a:t>
            </a:r>
            <a:endParaRPr lang="en-US" sz="1500" dirty="0"/>
          </a:p>
        </p:txBody>
      </p:sp>
      <p:sp>
        <p:nvSpPr>
          <p:cNvPr id="13" name="Text 11"/>
          <p:cNvSpPr/>
          <p:nvPr/>
        </p:nvSpPr>
        <p:spPr>
          <a:xfrm>
            <a:off x="3547872"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3</a:t>
            </a:r>
            <a:endParaRPr lang="en-US" sz="1500" dirty="0"/>
          </a:p>
        </p:txBody>
      </p:sp>
      <p:sp>
        <p:nvSpPr>
          <p:cNvPr id="14" name="Text 12"/>
          <p:cNvSpPr/>
          <p:nvPr/>
        </p:nvSpPr>
        <p:spPr>
          <a:xfrm>
            <a:off x="4169664"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15" name="Text 13"/>
          <p:cNvSpPr/>
          <p:nvPr/>
        </p:nvSpPr>
        <p:spPr>
          <a:xfrm>
            <a:off x="4791456" y="1444752"/>
            <a:ext cx="566928" cy="402336"/>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7</a:t>
            </a:r>
            <a:endParaRPr lang="en-US" sz="1500" dirty="0"/>
          </a:p>
        </p:txBody>
      </p:sp>
      <p:sp>
        <p:nvSpPr>
          <p:cNvPr id="16" name="Text 14"/>
          <p:cNvSpPr/>
          <p:nvPr/>
        </p:nvSpPr>
        <p:spPr>
          <a:xfrm>
            <a:off x="5413248"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17" name="Text 15"/>
          <p:cNvSpPr/>
          <p:nvPr/>
        </p:nvSpPr>
        <p:spPr>
          <a:xfrm>
            <a:off x="6035040"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10</a:t>
            </a:r>
            <a:endParaRPr lang="en-US" sz="1500" dirty="0"/>
          </a:p>
        </p:txBody>
      </p:sp>
      <p:sp>
        <p:nvSpPr>
          <p:cNvPr id="18" name="Text 16"/>
          <p:cNvSpPr/>
          <p:nvPr/>
        </p:nvSpPr>
        <p:spPr>
          <a:xfrm>
            <a:off x="6656832" y="1444752"/>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2</a:t>
            </a:r>
            <a:endParaRPr lang="en-US" sz="1500" dirty="0"/>
          </a:p>
        </p:txBody>
      </p:sp>
      <p:sp>
        <p:nvSpPr>
          <p:cNvPr id="19" name="Text 17"/>
          <p:cNvSpPr txBox="1"/>
          <p:nvPr/>
        </p:nvSpPr>
        <p:spPr>
          <a:xfrm>
            <a:off x="3026664"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20" name="Text 18"/>
          <p:cNvSpPr txBox="1"/>
          <p:nvPr/>
        </p:nvSpPr>
        <p:spPr>
          <a:xfrm>
            <a:off x="3648456"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1</a:t>
            </a:r>
            <a:endParaRPr lang="en-US" sz="1000" dirty="0"/>
          </a:p>
        </p:txBody>
      </p:sp>
      <p:sp>
        <p:nvSpPr>
          <p:cNvPr id="21" name="Text 19"/>
          <p:cNvSpPr txBox="1"/>
          <p:nvPr/>
        </p:nvSpPr>
        <p:spPr>
          <a:xfrm>
            <a:off x="4270248"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2</a:t>
            </a:r>
            <a:endParaRPr lang="en-US" sz="1000" dirty="0"/>
          </a:p>
        </p:txBody>
      </p:sp>
      <p:sp>
        <p:nvSpPr>
          <p:cNvPr id="22" name="Text 20"/>
          <p:cNvSpPr txBox="1"/>
          <p:nvPr/>
        </p:nvSpPr>
        <p:spPr>
          <a:xfrm>
            <a:off x="4892040"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3</a:t>
            </a:r>
            <a:endParaRPr lang="en-US" sz="1000" dirty="0"/>
          </a:p>
        </p:txBody>
      </p:sp>
      <p:sp>
        <p:nvSpPr>
          <p:cNvPr id="23" name="Text 21"/>
          <p:cNvSpPr txBox="1"/>
          <p:nvPr/>
        </p:nvSpPr>
        <p:spPr>
          <a:xfrm>
            <a:off x="5513832"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4</a:t>
            </a:r>
            <a:endParaRPr lang="en-US" sz="1000" dirty="0"/>
          </a:p>
        </p:txBody>
      </p:sp>
      <p:sp>
        <p:nvSpPr>
          <p:cNvPr id="24" name="Text 22"/>
          <p:cNvSpPr txBox="1"/>
          <p:nvPr/>
        </p:nvSpPr>
        <p:spPr>
          <a:xfrm>
            <a:off x="6135624"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5</a:t>
            </a:r>
            <a:endParaRPr lang="en-US" sz="1000" dirty="0"/>
          </a:p>
        </p:txBody>
      </p:sp>
      <p:sp>
        <p:nvSpPr>
          <p:cNvPr id="25" name="Text 23"/>
          <p:cNvSpPr txBox="1"/>
          <p:nvPr/>
        </p:nvSpPr>
        <p:spPr>
          <a:xfrm>
            <a:off x="6757416" y="1234440"/>
            <a:ext cx="365760" cy="182880"/>
          </a:xfrm>
          <a:prstGeom prst="rect">
            <a:avLst/>
          </a:prstGeom>
          <a:noFill/>
          <a:ln/>
        </p:spPr>
        <p:txBody>
          <a:bodyPr wrap="square" lIns="0" tIns="0" rIns="0" bIns="0" rtlCol="0" anchor="ctr"/>
          <a:lstStyle/>
          <a:p>
            <a:pPr algn="ctr" indent="0" marL="0">
              <a:buNone/>
            </a:pPr>
            <a:r>
              <a:rPr lang="en-US" sz="1000" dirty="0">
                <a:solidFill>
                  <a:schemeClr val="accent6"/>
                </a:solidFill>
              </a:rPr>
              <a:t>6</a:t>
            </a:r>
            <a:endParaRPr lang="en-US" sz="1000" dirty="0"/>
          </a:p>
        </p:txBody>
      </p:sp>
      <p:sp>
        <p:nvSpPr>
          <p:cNvPr id="26" name="Shape 24"/>
          <p:cNvSpPr/>
          <p:nvPr/>
        </p:nvSpPr>
        <p:spPr>
          <a:xfrm>
            <a:off x="3136392" y="1865376"/>
            <a:ext cx="146304" cy="91440"/>
          </a:xfrm>
          <a:prstGeom prst="triangle">
            <a:avLst/>
          </a:prstGeom>
          <a:solidFill>
            <a:schemeClr val="accent1"/>
          </a:solidFill>
          <a:ln w="6350">
            <a:solidFill>
              <a:schemeClr val="accent1"/>
            </a:solidFill>
            <a:prstDash val="solid"/>
          </a:ln>
        </p:spPr>
      </p:sp>
      <p:sp>
        <p:nvSpPr>
          <p:cNvPr id="27" name="Text 25"/>
          <p:cNvSpPr txBox="1"/>
          <p:nvPr/>
        </p:nvSpPr>
        <p:spPr>
          <a:xfrm>
            <a:off x="2798064" y="1956816"/>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28" name="Shape 26"/>
          <p:cNvSpPr/>
          <p:nvPr/>
        </p:nvSpPr>
        <p:spPr>
          <a:xfrm>
            <a:off x="6867144" y="1865376"/>
            <a:ext cx="146304" cy="91440"/>
          </a:xfrm>
          <a:prstGeom prst="triangle">
            <a:avLst/>
          </a:prstGeom>
          <a:solidFill>
            <a:schemeClr val="accent3"/>
          </a:solidFill>
          <a:ln w="6350">
            <a:solidFill>
              <a:schemeClr val="accent3"/>
            </a:solidFill>
            <a:prstDash val="solid"/>
          </a:ln>
        </p:spPr>
      </p:sp>
      <p:sp>
        <p:nvSpPr>
          <p:cNvPr id="29" name="Text 27"/>
          <p:cNvSpPr txBox="1"/>
          <p:nvPr/>
        </p:nvSpPr>
        <p:spPr>
          <a:xfrm>
            <a:off x="6528816" y="1956816"/>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30" name="Text 28"/>
          <p:cNvSpPr txBox="1"/>
          <p:nvPr/>
        </p:nvSpPr>
        <p:spPr>
          <a:xfrm>
            <a:off x="7498080" y="1298448"/>
            <a:ext cx="4160520" cy="731520"/>
          </a:xfrm>
          <a:prstGeom prst="rect">
            <a:avLst/>
          </a:prstGeom>
          <a:noFill/>
          <a:ln/>
        </p:spPr>
        <p:txBody>
          <a:bodyPr wrap="square" lIns="0" tIns="0" rIns="0" bIns="0" rtlCol="0" anchor="t"/>
          <a:lstStyle/>
          <a:p>
            <a:pPr indent="0" marL="0">
              <a:buNone/>
            </a:pPr>
            <a:r>
              <a:rPr lang="en-US" sz="1250" dirty="0">
                <a:solidFill>
                  <a:schemeClr val="tx1"/>
                </a:solidFill>
              </a:rPr>
              <a:t>arr[0] = 8 is not &lt; 7, so i stops.</a:t>
            </a:r>
            <a:endParaRPr lang="en-US" sz="1250" dirty="0"/>
          </a:p>
          <a:p>
            <a:pPr indent="0" marL="0">
              <a:buNone/>
            </a:pPr>
            <a:r>
              <a:rPr lang="en-US" sz="1250" dirty="0">
                <a:solidFill>
                  <a:schemeClr val="tx1"/>
                </a:solidFill>
              </a:rPr>
              <a:t>arr[6] = 2 is not &gt; 7, so j stops.</a:t>
            </a:r>
            <a:endParaRPr lang="en-US" sz="1250" dirty="0"/>
          </a:p>
          <a:p>
            <a:pPr indent="0" marL="0">
              <a:buNone/>
            </a:pPr>
            <a:r>
              <a:rPr lang="en-US" sz="1250" dirty="0">
                <a:solidFill>
                  <a:schemeClr val="tx1"/>
                </a:solidFill>
              </a:rPr>
              <a:t>i &lt;= j, so swap(8, 2).</a:t>
            </a:r>
            <a:endParaRPr lang="en-US" sz="1250" dirty="0"/>
          </a:p>
        </p:txBody>
      </p:sp>
      <p:sp>
        <p:nvSpPr>
          <p:cNvPr id="31" name="Text 29"/>
          <p:cNvSpPr txBox="1"/>
          <p:nvPr/>
        </p:nvSpPr>
        <p:spPr>
          <a:xfrm>
            <a:off x="548640" y="2176272"/>
            <a:ext cx="2240280" cy="685800"/>
          </a:xfrm>
          <a:prstGeom prst="rect">
            <a:avLst/>
          </a:prstGeom>
          <a:noFill/>
          <a:ln/>
        </p:spPr>
        <p:txBody>
          <a:bodyPr wrap="square" lIns="0" tIns="0" rIns="0" bIns="0" rtlCol="0" anchor="t"/>
          <a:lstStyle/>
          <a:p>
            <a:pPr indent="0" marL="0">
              <a:buNone/>
            </a:pPr>
            <a:r>
              <a:rPr lang="en-US" sz="1500" b="1" dirty="0">
                <a:solidFill>
                  <a:schemeClr val="tx2"/>
                </a:solidFill>
              </a:rPr>
              <a:t>After swap 1</a:t>
            </a:r>
            <a:endParaRPr lang="en-US" sz="1500" dirty="0"/>
          </a:p>
          <a:p>
            <a:pPr indent="0" marL="0">
              <a:buNone/>
            </a:pPr>
            <a:r>
              <a:rPr lang="en-US" sz="1200" dirty="0">
                <a:solidFill>
                  <a:schemeClr val="accent6"/>
                </a:solidFill>
              </a:rPr>
              <a:t>i = 1, j = 5</a:t>
            </a:r>
            <a:endParaRPr lang="en-US" sz="1500" dirty="0"/>
          </a:p>
        </p:txBody>
      </p:sp>
      <p:sp>
        <p:nvSpPr>
          <p:cNvPr id="32" name="Text 30"/>
          <p:cNvSpPr/>
          <p:nvPr/>
        </p:nvSpPr>
        <p:spPr>
          <a:xfrm>
            <a:off x="2926080" y="2340864"/>
            <a:ext cx="566928" cy="402336"/>
          </a:xfrm>
          <a:prstGeom prst="rect">
            <a:avLst/>
          </a:prstGeom>
          <a:solidFill>
            <a:schemeClr val="accent4">
              <a:alpha val="55000"/>
            </a:schemeClr>
          </a:solidFill>
          <a:ln w="31750">
            <a:solidFill>
              <a:schemeClr val="accent4"/>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2</a:t>
            </a:r>
            <a:endParaRPr lang="en-US" sz="1500" dirty="0"/>
          </a:p>
        </p:txBody>
      </p:sp>
      <p:sp>
        <p:nvSpPr>
          <p:cNvPr id="33" name="Text 31"/>
          <p:cNvSpPr/>
          <p:nvPr/>
        </p:nvSpPr>
        <p:spPr>
          <a:xfrm>
            <a:off x="3547872" y="2340864"/>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3</a:t>
            </a:r>
            <a:endParaRPr lang="en-US" sz="1500" dirty="0"/>
          </a:p>
        </p:txBody>
      </p:sp>
      <p:sp>
        <p:nvSpPr>
          <p:cNvPr id="34" name="Text 32"/>
          <p:cNvSpPr/>
          <p:nvPr/>
        </p:nvSpPr>
        <p:spPr>
          <a:xfrm>
            <a:off x="4169664" y="2340864"/>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35" name="Text 33"/>
          <p:cNvSpPr/>
          <p:nvPr/>
        </p:nvSpPr>
        <p:spPr>
          <a:xfrm>
            <a:off x="4791456" y="2340864"/>
            <a:ext cx="566928" cy="402336"/>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7</a:t>
            </a:r>
            <a:endParaRPr lang="en-US" sz="1500" dirty="0"/>
          </a:p>
        </p:txBody>
      </p:sp>
      <p:sp>
        <p:nvSpPr>
          <p:cNvPr id="36" name="Text 34"/>
          <p:cNvSpPr/>
          <p:nvPr/>
        </p:nvSpPr>
        <p:spPr>
          <a:xfrm>
            <a:off x="5413248" y="2340864"/>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37" name="Text 35"/>
          <p:cNvSpPr/>
          <p:nvPr/>
        </p:nvSpPr>
        <p:spPr>
          <a:xfrm>
            <a:off x="6035040" y="2340864"/>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10</a:t>
            </a:r>
            <a:endParaRPr lang="en-US" sz="1500" dirty="0"/>
          </a:p>
        </p:txBody>
      </p:sp>
      <p:sp>
        <p:nvSpPr>
          <p:cNvPr id="38" name="Text 36"/>
          <p:cNvSpPr/>
          <p:nvPr/>
        </p:nvSpPr>
        <p:spPr>
          <a:xfrm>
            <a:off x="6656832" y="2340864"/>
            <a:ext cx="566928" cy="402336"/>
          </a:xfrm>
          <a:prstGeom prst="rect">
            <a:avLst/>
          </a:prstGeom>
          <a:solidFill>
            <a:schemeClr val="accent4">
              <a:alpha val="55000"/>
            </a:schemeClr>
          </a:solidFill>
          <a:ln w="31750">
            <a:solidFill>
              <a:schemeClr val="accent4"/>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8</a:t>
            </a:r>
            <a:endParaRPr lang="en-US" sz="1500" dirty="0"/>
          </a:p>
        </p:txBody>
      </p:sp>
      <p:sp>
        <p:nvSpPr>
          <p:cNvPr id="39" name="Shape 37"/>
          <p:cNvSpPr/>
          <p:nvPr/>
        </p:nvSpPr>
        <p:spPr>
          <a:xfrm>
            <a:off x="3758184" y="2761488"/>
            <a:ext cx="146304" cy="91440"/>
          </a:xfrm>
          <a:prstGeom prst="triangle">
            <a:avLst/>
          </a:prstGeom>
          <a:solidFill>
            <a:schemeClr val="accent1"/>
          </a:solidFill>
          <a:ln w="6350">
            <a:solidFill>
              <a:schemeClr val="accent1"/>
            </a:solidFill>
            <a:prstDash val="solid"/>
          </a:ln>
        </p:spPr>
      </p:sp>
      <p:sp>
        <p:nvSpPr>
          <p:cNvPr id="40" name="Text 38"/>
          <p:cNvSpPr txBox="1"/>
          <p:nvPr/>
        </p:nvSpPr>
        <p:spPr>
          <a:xfrm>
            <a:off x="3419856" y="2852928"/>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41" name="Shape 39"/>
          <p:cNvSpPr/>
          <p:nvPr/>
        </p:nvSpPr>
        <p:spPr>
          <a:xfrm>
            <a:off x="6245352" y="2761488"/>
            <a:ext cx="146304" cy="91440"/>
          </a:xfrm>
          <a:prstGeom prst="triangle">
            <a:avLst/>
          </a:prstGeom>
          <a:solidFill>
            <a:schemeClr val="accent3"/>
          </a:solidFill>
          <a:ln w="6350">
            <a:solidFill>
              <a:schemeClr val="accent3"/>
            </a:solidFill>
            <a:prstDash val="solid"/>
          </a:ln>
        </p:spPr>
      </p:sp>
      <p:sp>
        <p:nvSpPr>
          <p:cNvPr id="42" name="Text 40"/>
          <p:cNvSpPr txBox="1"/>
          <p:nvPr/>
        </p:nvSpPr>
        <p:spPr>
          <a:xfrm>
            <a:off x="5907024" y="2852928"/>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43" name="Shape 41"/>
          <p:cNvSpPr/>
          <p:nvPr/>
        </p:nvSpPr>
        <p:spPr>
          <a:xfrm>
            <a:off x="3337560" y="2139696"/>
            <a:ext cx="365760" cy="0"/>
          </a:xfrm>
          <a:prstGeom prst="line">
            <a:avLst/>
          </a:prstGeom>
          <a:noFill/>
          <a:ln w="25400">
            <a:solidFill>
              <a:schemeClr val="accent1"/>
            </a:solidFill>
            <a:prstDash val="solid"/>
            <a:tailEnd type="triangle"/>
          </a:ln>
        </p:spPr>
      </p:sp>
      <p:sp>
        <p:nvSpPr>
          <p:cNvPr id="44" name="Shape 42"/>
          <p:cNvSpPr/>
          <p:nvPr/>
        </p:nvSpPr>
        <p:spPr>
          <a:xfrm flipH="1">
            <a:off x="6446520" y="2249424"/>
            <a:ext cx="365760" cy="0"/>
          </a:xfrm>
          <a:prstGeom prst="line">
            <a:avLst/>
          </a:prstGeom>
          <a:noFill/>
          <a:ln w="25400">
            <a:solidFill>
              <a:schemeClr val="accent3"/>
            </a:solidFill>
            <a:prstDash val="solid"/>
            <a:tailEnd type="triangle"/>
          </a:ln>
        </p:spPr>
      </p:sp>
      <p:sp>
        <p:nvSpPr>
          <p:cNvPr id="45" name="Text 43"/>
          <p:cNvSpPr txBox="1"/>
          <p:nvPr/>
        </p:nvSpPr>
        <p:spPr>
          <a:xfrm>
            <a:off x="7498080" y="2194560"/>
            <a:ext cx="4160520" cy="731520"/>
          </a:xfrm>
          <a:prstGeom prst="rect">
            <a:avLst/>
          </a:prstGeom>
          <a:noFill/>
          <a:ln/>
        </p:spPr>
        <p:txBody>
          <a:bodyPr wrap="square" lIns="0" tIns="0" rIns="0" bIns="0" rtlCol="0" anchor="t"/>
          <a:lstStyle/>
          <a:p>
            <a:pPr indent="0" marL="0">
              <a:buNone/>
            </a:pPr>
            <a:r>
              <a:rPr lang="en-US" sz="1250" dirty="0">
                <a:solidFill>
                  <a:schemeClr val="tx1"/>
                </a:solidFill>
              </a:rPr>
              <a:t>swap(8, 2) done.</a:t>
            </a:r>
            <a:endParaRPr lang="en-US" sz="1250" dirty="0"/>
          </a:p>
          <a:p>
            <a:pPr indent="0" marL="0">
              <a:buNone/>
            </a:pPr>
            <a:r>
              <a:rPr lang="en-US" sz="1250" dirty="0">
                <a:solidFill>
                  <a:schemeClr val="tx1"/>
                </a:solidFill>
              </a:rPr>
              <a:t>Then i++ (i = 1) and j-- (j = 5).</a:t>
            </a:r>
            <a:endParaRPr lang="en-US" sz="1250" dirty="0"/>
          </a:p>
        </p:txBody>
      </p:sp>
      <p:sp>
        <p:nvSpPr>
          <p:cNvPr id="46" name="Text 44"/>
          <p:cNvSpPr txBox="1"/>
          <p:nvPr/>
        </p:nvSpPr>
        <p:spPr>
          <a:xfrm>
            <a:off x="548640" y="3072384"/>
            <a:ext cx="2240280" cy="685800"/>
          </a:xfrm>
          <a:prstGeom prst="rect">
            <a:avLst/>
          </a:prstGeom>
          <a:noFill/>
          <a:ln/>
        </p:spPr>
        <p:txBody>
          <a:bodyPr wrap="square" lIns="0" tIns="0" rIns="0" bIns="0" rtlCol="0" anchor="t"/>
          <a:lstStyle/>
          <a:p>
            <a:pPr indent="0" marL="0">
              <a:buNone/>
            </a:pPr>
            <a:r>
              <a:rPr lang="en-US" sz="1500" b="1" dirty="0">
                <a:solidFill>
                  <a:schemeClr val="tx2"/>
                </a:solidFill>
              </a:rPr>
              <a:t>Pointers stop</a:t>
            </a:r>
            <a:endParaRPr lang="en-US" sz="1500" dirty="0"/>
          </a:p>
          <a:p>
            <a:pPr indent="0" marL="0">
              <a:buNone/>
            </a:pPr>
            <a:r>
              <a:rPr lang="en-US" sz="1200" dirty="0">
                <a:solidFill>
                  <a:schemeClr val="accent6"/>
                </a:solidFill>
              </a:rPr>
              <a:t>i = 3, j = 4</a:t>
            </a:r>
            <a:endParaRPr lang="en-US" sz="1500" dirty="0"/>
          </a:p>
        </p:txBody>
      </p:sp>
      <p:sp>
        <p:nvSpPr>
          <p:cNvPr id="47" name="Text 45"/>
          <p:cNvSpPr/>
          <p:nvPr/>
        </p:nvSpPr>
        <p:spPr>
          <a:xfrm>
            <a:off x="2926080"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2</a:t>
            </a:r>
            <a:endParaRPr lang="en-US" sz="1500" dirty="0"/>
          </a:p>
        </p:txBody>
      </p:sp>
      <p:sp>
        <p:nvSpPr>
          <p:cNvPr id="48" name="Text 46"/>
          <p:cNvSpPr/>
          <p:nvPr/>
        </p:nvSpPr>
        <p:spPr>
          <a:xfrm>
            <a:off x="3547872"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3</a:t>
            </a:r>
            <a:endParaRPr lang="en-US" sz="1500" dirty="0"/>
          </a:p>
        </p:txBody>
      </p:sp>
      <p:sp>
        <p:nvSpPr>
          <p:cNvPr id="49" name="Text 47"/>
          <p:cNvSpPr/>
          <p:nvPr/>
        </p:nvSpPr>
        <p:spPr>
          <a:xfrm>
            <a:off x="4169664"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50" name="Text 48"/>
          <p:cNvSpPr/>
          <p:nvPr/>
        </p:nvSpPr>
        <p:spPr>
          <a:xfrm>
            <a:off x="4791456" y="3236976"/>
            <a:ext cx="566928" cy="402336"/>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7</a:t>
            </a:r>
            <a:endParaRPr lang="en-US" sz="1500" dirty="0"/>
          </a:p>
        </p:txBody>
      </p:sp>
      <p:sp>
        <p:nvSpPr>
          <p:cNvPr id="51" name="Text 49"/>
          <p:cNvSpPr/>
          <p:nvPr/>
        </p:nvSpPr>
        <p:spPr>
          <a:xfrm>
            <a:off x="5413248"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52" name="Text 50"/>
          <p:cNvSpPr/>
          <p:nvPr/>
        </p:nvSpPr>
        <p:spPr>
          <a:xfrm>
            <a:off x="6035040"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10</a:t>
            </a:r>
            <a:endParaRPr lang="en-US" sz="1500" dirty="0"/>
          </a:p>
        </p:txBody>
      </p:sp>
      <p:sp>
        <p:nvSpPr>
          <p:cNvPr id="53" name="Text 51"/>
          <p:cNvSpPr/>
          <p:nvPr/>
        </p:nvSpPr>
        <p:spPr>
          <a:xfrm>
            <a:off x="6656832" y="3236976"/>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8</a:t>
            </a:r>
            <a:endParaRPr lang="en-US" sz="1500" dirty="0"/>
          </a:p>
        </p:txBody>
      </p:sp>
      <p:sp>
        <p:nvSpPr>
          <p:cNvPr id="54" name="Shape 52"/>
          <p:cNvSpPr/>
          <p:nvPr/>
        </p:nvSpPr>
        <p:spPr>
          <a:xfrm>
            <a:off x="5001768" y="3657600"/>
            <a:ext cx="146304" cy="91440"/>
          </a:xfrm>
          <a:prstGeom prst="triangle">
            <a:avLst/>
          </a:prstGeom>
          <a:solidFill>
            <a:schemeClr val="accent1"/>
          </a:solidFill>
          <a:ln w="6350">
            <a:solidFill>
              <a:schemeClr val="accent1"/>
            </a:solidFill>
            <a:prstDash val="solid"/>
          </a:ln>
        </p:spPr>
      </p:sp>
      <p:sp>
        <p:nvSpPr>
          <p:cNvPr id="55" name="Text 53"/>
          <p:cNvSpPr txBox="1"/>
          <p:nvPr/>
        </p:nvSpPr>
        <p:spPr>
          <a:xfrm>
            <a:off x="4663440" y="3749040"/>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56" name="Shape 54"/>
          <p:cNvSpPr/>
          <p:nvPr/>
        </p:nvSpPr>
        <p:spPr>
          <a:xfrm>
            <a:off x="5623560" y="3657600"/>
            <a:ext cx="146304" cy="91440"/>
          </a:xfrm>
          <a:prstGeom prst="triangle">
            <a:avLst/>
          </a:prstGeom>
          <a:solidFill>
            <a:schemeClr val="accent3"/>
          </a:solidFill>
          <a:ln w="6350">
            <a:solidFill>
              <a:schemeClr val="accent3"/>
            </a:solidFill>
            <a:prstDash val="solid"/>
          </a:ln>
        </p:spPr>
      </p:sp>
      <p:sp>
        <p:nvSpPr>
          <p:cNvPr id="57" name="Text 55"/>
          <p:cNvSpPr txBox="1"/>
          <p:nvPr/>
        </p:nvSpPr>
        <p:spPr>
          <a:xfrm>
            <a:off x="5285232" y="3749040"/>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58" name="Shape 56"/>
          <p:cNvSpPr/>
          <p:nvPr/>
        </p:nvSpPr>
        <p:spPr>
          <a:xfrm>
            <a:off x="3959352" y="3035808"/>
            <a:ext cx="987552" cy="0"/>
          </a:xfrm>
          <a:prstGeom prst="line">
            <a:avLst/>
          </a:prstGeom>
          <a:noFill/>
          <a:ln w="25400">
            <a:solidFill>
              <a:schemeClr val="accent1"/>
            </a:solidFill>
            <a:prstDash val="solid"/>
            <a:tailEnd type="triangle"/>
          </a:ln>
        </p:spPr>
      </p:sp>
      <p:sp>
        <p:nvSpPr>
          <p:cNvPr id="59" name="Shape 57"/>
          <p:cNvSpPr/>
          <p:nvPr/>
        </p:nvSpPr>
        <p:spPr>
          <a:xfrm flipH="1">
            <a:off x="5824728" y="3145536"/>
            <a:ext cx="365760" cy="0"/>
          </a:xfrm>
          <a:prstGeom prst="line">
            <a:avLst/>
          </a:prstGeom>
          <a:noFill/>
          <a:ln w="25400">
            <a:solidFill>
              <a:schemeClr val="accent3"/>
            </a:solidFill>
            <a:prstDash val="solid"/>
            <a:tailEnd type="triangle"/>
          </a:ln>
        </p:spPr>
      </p:sp>
      <p:sp>
        <p:nvSpPr>
          <p:cNvPr id="60" name="Text 58"/>
          <p:cNvSpPr txBox="1"/>
          <p:nvPr/>
        </p:nvSpPr>
        <p:spPr>
          <a:xfrm>
            <a:off x="7498080" y="3090672"/>
            <a:ext cx="4160520" cy="731520"/>
          </a:xfrm>
          <a:prstGeom prst="rect">
            <a:avLst/>
          </a:prstGeom>
          <a:noFill/>
          <a:ln/>
        </p:spPr>
        <p:txBody>
          <a:bodyPr wrap="square" lIns="0" tIns="0" rIns="0" bIns="0" rtlCol="0" anchor="t"/>
          <a:lstStyle/>
          <a:p>
            <a:pPr indent="0" marL="0">
              <a:buNone/>
            </a:pPr>
            <a:r>
              <a:rPr lang="en-US" sz="1250" dirty="0">
                <a:solidFill>
                  <a:schemeClr val="accent1"/>
                </a:solidFill>
              </a:rPr>
              <a:t>i skips 3 and 1 (both &lt; 7), stops at 7 (index 3).</a:t>
            </a:r>
            <a:endParaRPr lang="en-US" sz="1250" dirty="0"/>
          </a:p>
          <a:p>
            <a:pPr indent="0" marL="0">
              <a:buNone/>
            </a:pPr>
            <a:r>
              <a:rPr lang="en-US" sz="1250" dirty="0">
                <a:solidFill>
                  <a:schemeClr val="accent3"/>
                </a:solidFill>
              </a:rPr>
              <a:t>j skips 10 (&gt; 7), stops at 0 (index 4).</a:t>
            </a:r>
            <a:endParaRPr lang="en-US" sz="1250" dirty="0"/>
          </a:p>
          <a:p>
            <a:pPr indent="0" marL="0">
              <a:buNone/>
            </a:pPr>
            <a:r>
              <a:rPr lang="en-US" sz="1250" dirty="0">
                <a:solidFill>
                  <a:schemeClr val="tx1"/>
                </a:solidFill>
              </a:rPr>
              <a:t>i &lt;= j, so swap(7, 0).</a:t>
            </a:r>
            <a:endParaRPr lang="en-US" sz="1250" dirty="0"/>
          </a:p>
        </p:txBody>
      </p:sp>
      <p:sp>
        <p:nvSpPr>
          <p:cNvPr id="61" name="Text 59"/>
          <p:cNvSpPr txBox="1"/>
          <p:nvPr/>
        </p:nvSpPr>
        <p:spPr>
          <a:xfrm>
            <a:off x="548640" y="3968496"/>
            <a:ext cx="2240280" cy="685800"/>
          </a:xfrm>
          <a:prstGeom prst="rect">
            <a:avLst/>
          </a:prstGeom>
          <a:noFill/>
          <a:ln/>
        </p:spPr>
        <p:txBody>
          <a:bodyPr wrap="square" lIns="0" tIns="0" rIns="0" bIns="0" rtlCol="0" anchor="t"/>
          <a:lstStyle/>
          <a:p>
            <a:pPr indent="0" marL="0">
              <a:buNone/>
            </a:pPr>
            <a:r>
              <a:rPr lang="en-US" sz="1500" b="1" dirty="0">
                <a:solidFill>
                  <a:schemeClr val="tx2"/>
                </a:solidFill>
              </a:rPr>
              <a:t>After swap 2</a:t>
            </a:r>
            <a:endParaRPr lang="en-US" sz="1500" dirty="0"/>
          </a:p>
          <a:p>
            <a:pPr indent="0" marL="0">
              <a:buNone/>
            </a:pPr>
            <a:r>
              <a:rPr lang="en-US" sz="1200" dirty="0">
                <a:solidFill>
                  <a:schemeClr val="accent6"/>
                </a:solidFill>
              </a:rPr>
              <a:t>i = 4, j = 3</a:t>
            </a:r>
            <a:endParaRPr lang="en-US" sz="1500" dirty="0"/>
          </a:p>
        </p:txBody>
      </p:sp>
      <p:sp>
        <p:nvSpPr>
          <p:cNvPr id="62" name="Text 60"/>
          <p:cNvSpPr/>
          <p:nvPr/>
        </p:nvSpPr>
        <p:spPr>
          <a:xfrm>
            <a:off x="2926080" y="4133088"/>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2</a:t>
            </a:r>
            <a:endParaRPr lang="en-US" sz="1500" dirty="0"/>
          </a:p>
        </p:txBody>
      </p:sp>
      <p:sp>
        <p:nvSpPr>
          <p:cNvPr id="63" name="Text 61"/>
          <p:cNvSpPr/>
          <p:nvPr/>
        </p:nvSpPr>
        <p:spPr>
          <a:xfrm>
            <a:off x="3547872" y="4133088"/>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3</a:t>
            </a:r>
            <a:endParaRPr lang="en-US" sz="1500" dirty="0"/>
          </a:p>
        </p:txBody>
      </p:sp>
      <p:sp>
        <p:nvSpPr>
          <p:cNvPr id="64" name="Text 62"/>
          <p:cNvSpPr/>
          <p:nvPr/>
        </p:nvSpPr>
        <p:spPr>
          <a:xfrm>
            <a:off x="4169664" y="4133088"/>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65" name="Text 63"/>
          <p:cNvSpPr/>
          <p:nvPr/>
        </p:nvSpPr>
        <p:spPr>
          <a:xfrm>
            <a:off x="4791456" y="4133088"/>
            <a:ext cx="566928" cy="402336"/>
          </a:xfrm>
          <a:prstGeom prst="rect">
            <a:avLst/>
          </a:prstGeom>
          <a:solidFill>
            <a:schemeClr val="accent4">
              <a:alpha val="55000"/>
            </a:schemeClr>
          </a:solidFill>
          <a:ln w="31750">
            <a:solidFill>
              <a:schemeClr val="accent4"/>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66" name="Text 64"/>
          <p:cNvSpPr/>
          <p:nvPr/>
        </p:nvSpPr>
        <p:spPr>
          <a:xfrm>
            <a:off x="5413248" y="4133088"/>
            <a:ext cx="566928" cy="402336"/>
          </a:xfrm>
          <a:prstGeom prst="rect">
            <a:avLst/>
          </a:prstGeom>
          <a:solidFill>
            <a:schemeClr val="accent2"/>
          </a:solidFill>
          <a:ln w="38100">
            <a:solidFill>
              <a:schemeClr val="accent4"/>
            </a:solid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7</a:t>
            </a:r>
            <a:endParaRPr lang="en-US" sz="1500" dirty="0"/>
          </a:p>
        </p:txBody>
      </p:sp>
      <p:sp>
        <p:nvSpPr>
          <p:cNvPr id="67" name="Text 65"/>
          <p:cNvSpPr/>
          <p:nvPr/>
        </p:nvSpPr>
        <p:spPr>
          <a:xfrm>
            <a:off x="6035040" y="4133088"/>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10</a:t>
            </a:r>
            <a:endParaRPr lang="en-US" sz="1500" dirty="0"/>
          </a:p>
        </p:txBody>
      </p:sp>
      <p:sp>
        <p:nvSpPr>
          <p:cNvPr id="68" name="Text 66"/>
          <p:cNvSpPr/>
          <p:nvPr/>
        </p:nvSpPr>
        <p:spPr>
          <a:xfrm>
            <a:off x="6656832" y="4133088"/>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8</a:t>
            </a:r>
            <a:endParaRPr lang="en-US" sz="1500" dirty="0"/>
          </a:p>
        </p:txBody>
      </p:sp>
      <p:sp>
        <p:nvSpPr>
          <p:cNvPr id="69" name="Shape 67"/>
          <p:cNvSpPr/>
          <p:nvPr/>
        </p:nvSpPr>
        <p:spPr>
          <a:xfrm>
            <a:off x="5623560" y="4553712"/>
            <a:ext cx="146304" cy="91440"/>
          </a:xfrm>
          <a:prstGeom prst="triangle">
            <a:avLst/>
          </a:prstGeom>
          <a:solidFill>
            <a:schemeClr val="accent1"/>
          </a:solidFill>
          <a:ln w="6350">
            <a:solidFill>
              <a:schemeClr val="accent1"/>
            </a:solidFill>
            <a:prstDash val="solid"/>
          </a:ln>
        </p:spPr>
      </p:sp>
      <p:sp>
        <p:nvSpPr>
          <p:cNvPr id="70" name="Text 68"/>
          <p:cNvSpPr txBox="1"/>
          <p:nvPr/>
        </p:nvSpPr>
        <p:spPr>
          <a:xfrm>
            <a:off x="5285232" y="4645152"/>
            <a:ext cx="822960" cy="201168"/>
          </a:xfrm>
          <a:prstGeom prst="rect">
            <a:avLst/>
          </a:prstGeom>
          <a:noFill/>
          <a:ln/>
        </p:spPr>
        <p:txBody>
          <a:bodyPr wrap="square" lIns="0" tIns="0" rIns="0" bIns="0" rtlCol="0" anchor="ctr"/>
          <a:lstStyle/>
          <a:p>
            <a:pPr algn="ctr" indent="0" marL="0">
              <a:buNone/>
            </a:pPr>
            <a:r>
              <a:rPr lang="en-US" sz="1200" b="1" dirty="0">
                <a:solidFill>
                  <a:schemeClr val="accent1"/>
                </a:solidFill>
              </a:rPr>
              <a:t>i</a:t>
            </a:r>
            <a:endParaRPr lang="en-US" sz="1200" dirty="0"/>
          </a:p>
        </p:txBody>
      </p:sp>
      <p:sp>
        <p:nvSpPr>
          <p:cNvPr id="71" name="Shape 69"/>
          <p:cNvSpPr/>
          <p:nvPr/>
        </p:nvSpPr>
        <p:spPr>
          <a:xfrm>
            <a:off x="5001768" y="4553712"/>
            <a:ext cx="146304" cy="91440"/>
          </a:xfrm>
          <a:prstGeom prst="triangle">
            <a:avLst/>
          </a:prstGeom>
          <a:solidFill>
            <a:schemeClr val="accent3"/>
          </a:solidFill>
          <a:ln w="6350">
            <a:solidFill>
              <a:schemeClr val="accent3"/>
            </a:solidFill>
            <a:prstDash val="solid"/>
          </a:ln>
        </p:spPr>
      </p:sp>
      <p:sp>
        <p:nvSpPr>
          <p:cNvPr id="72" name="Text 70"/>
          <p:cNvSpPr txBox="1"/>
          <p:nvPr/>
        </p:nvSpPr>
        <p:spPr>
          <a:xfrm>
            <a:off x="4663440" y="4645152"/>
            <a:ext cx="822960" cy="201168"/>
          </a:xfrm>
          <a:prstGeom prst="rect">
            <a:avLst/>
          </a:prstGeom>
          <a:noFill/>
          <a:ln/>
        </p:spPr>
        <p:txBody>
          <a:bodyPr wrap="square" lIns="0" tIns="0" rIns="0" bIns="0" rtlCol="0" anchor="ctr"/>
          <a:lstStyle/>
          <a:p>
            <a:pPr algn="ctr" indent="0" marL="0">
              <a:buNone/>
            </a:pPr>
            <a:r>
              <a:rPr lang="en-US" sz="1200" b="1" dirty="0">
                <a:solidFill>
                  <a:schemeClr val="accent3"/>
                </a:solidFill>
              </a:rPr>
              <a:t>j</a:t>
            </a:r>
            <a:endParaRPr lang="en-US" sz="1200" dirty="0"/>
          </a:p>
        </p:txBody>
      </p:sp>
      <p:sp>
        <p:nvSpPr>
          <p:cNvPr id="73" name="Shape 71"/>
          <p:cNvSpPr/>
          <p:nvPr/>
        </p:nvSpPr>
        <p:spPr>
          <a:xfrm>
            <a:off x="5385816" y="4059936"/>
            <a:ext cx="0" cy="548640"/>
          </a:xfrm>
          <a:prstGeom prst="line">
            <a:avLst/>
          </a:prstGeom>
          <a:noFill/>
          <a:ln w="19050">
            <a:solidFill>
              <a:schemeClr val="tx1"/>
            </a:solidFill>
            <a:prstDash val="dash"/>
          </a:ln>
        </p:spPr>
      </p:sp>
      <p:sp>
        <p:nvSpPr>
          <p:cNvPr id="74" name="Text 72"/>
          <p:cNvSpPr txBox="1"/>
          <p:nvPr/>
        </p:nvSpPr>
        <p:spPr>
          <a:xfrm>
            <a:off x="7498080" y="3986784"/>
            <a:ext cx="4160520" cy="731520"/>
          </a:xfrm>
          <a:prstGeom prst="rect">
            <a:avLst/>
          </a:prstGeom>
          <a:noFill/>
          <a:ln/>
        </p:spPr>
        <p:txBody>
          <a:bodyPr wrap="square" lIns="0" tIns="0" rIns="0" bIns="0" rtlCol="0" anchor="t"/>
          <a:lstStyle/>
          <a:p>
            <a:pPr indent="0" marL="0">
              <a:buNone/>
            </a:pPr>
            <a:r>
              <a:rPr lang="en-US" sz="1250" dirty="0">
                <a:solidFill>
                  <a:schemeClr val="tx1"/>
                </a:solidFill>
              </a:rPr>
              <a:t>i &gt; j, so partitioning stops.</a:t>
            </a:r>
            <a:endParaRPr lang="en-US" sz="1250" dirty="0"/>
          </a:p>
          <a:p>
            <a:pPr indent="0" marL="0">
              <a:buNone/>
            </a:pPr>
            <a:r>
              <a:rPr lang="en-US" sz="1250" dirty="0">
                <a:solidFill>
                  <a:schemeClr val="tx1"/>
                </a:solidFill>
              </a:rPr>
              <a:t>Left: [2, 3, 1, 0] (indices 0..3)</a:t>
            </a:r>
            <a:endParaRPr lang="en-US" sz="1250" dirty="0"/>
          </a:p>
          <a:p>
            <a:pPr indent="0" marL="0">
              <a:buNone/>
            </a:pPr>
            <a:r>
              <a:rPr lang="en-US" sz="1250" dirty="0">
                <a:solidFill>
                  <a:schemeClr val="tx1"/>
                </a:solidFill>
              </a:rPr>
              <a:t>Right: [7, 10, 8] (indices 4..6)</a:t>
            </a:r>
            <a:endParaRPr lang="en-US" sz="1250" dirty="0"/>
          </a:p>
        </p:txBody>
      </p:sp>
      <p:sp>
        <p:nvSpPr>
          <p:cNvPr id="75" name="Text 73"/>
          <p:cNvSpPr txBox="1"/>
          <p:nvPr/>
        </p:nvSpPr>
        <p:spPr>
          <a:xfrm>
            <a:off x="548640" y="4864608"/>
            <a:ext cx="2240280" cy="685800"/>
          </a:xfrm>
          <a:prstGeom prst="rect">
            <a:avLst/>
          </a:prstGeom>
          <a:noFill/>
          <a:ln/>
        </p:spPr>
        <p:txBody>
          <a:bodyPr wrap="square" lIns="0" tIns="0" rIns="0" bIns="0" rtlCol="0" anchor="t"/>
          <a:lstStyle/>
          <a:p>
            <a:pPr indent="0" marL="0">
              <a:buNone/>
            </a:pPr>
            <a:r>
              <a:rPr lang="en-US" sz="1500" b="1" dirty="0">
                <a:solidFill>
                  <a:schemeClr val="tx2"/>
                </a:solidFill>
              </a:rPr>
              <a:t>After recursion</a:t>
            </a:r>
            <a:endParaRPr lang="en-US" sz="1500" dirty="0"/>
          </a:p>
          <a:p>
            <a:pPr indent="0" marL="0">
              <a:buNone/>
            </a:pPr>
            <a:r>
              <a:rPr lang="en-US" sz="1200" dirty="0">
                <a:solidFill>
                  <a:schemeClr val="accent6"/>
                </a:solidFill>
              </a:rPr>
              <a:t>both parts sorted</a:t>
            </a:r>
            <a:endParaRPr lang="en-US" sz="1500" dirty="0"/>
          </a:p>
        </p:txBody>
      </p:sp>
      <p:sp>
        <p:nvSpPr>
          <p:cNvPr id="76" name="Text 74"/>
          <p:cNvSpPr/>
          <p:nvPr/>
        </p:nvSpPr>
        <p:spPr>
          <a:xfrm>
            <a:off x="2926080"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0</a:t>
            </a:r>
            <a:endParaRPr lang="en-US" sz="1500" dirty="0"/>
          </a:p>
        </p:txBody>
      </p:sp>
      <p:sp>
        <p:nvSpPr>
          <p:cNvPr id="77" name="Text 75"/>
          <p:cNvSpPr/>
          <p:nvPr/>
        </p:nvSpPr>
        <p:spPr>
          <a:xfrm>
            <a:off x="3547872"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a:t>
            </a:r>
            <a:endParaRPr lang="en-US" sz="1500" dirty="0"/>
          </a:p>
        </p:txBody>
      </p:sp>
      <p:sp>
        <p:nvSpPr>
          <p:cNvPr id="78" name="Text 76"/>
          <p:cNvSpPr/>
          <p:nvPr/>
        </p:nvSpPr>
        <p:spPr>
          <a:xfrm>
            <a:off x="4169664"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2</a:t>
            </a:r>
            <a:endParaRPr lang="en-US" sz="1500" dirty="0"/>
          </a:p>
        </p:txBody>
      </p:sp>
      <p:sp>
        <p:nvSpPr>
          <p:cNvPr id="79" name="Text 77"/>
          <p:cNvSpPr/>
          <p:nvPr/>
        </p:nvSpPr>
        <p:spPr>
          <a:xfrm>
            <a:off x="4791456"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3</a:t>
            </a:r>
            <a:endParaRPr lang="en-US" sz="1500" dirty="0"/>
          </a:p>
        </p:txBody>
      </p:sp>
      <p:sp>
        <p:nvSpPr>
          <p:cNvPr id="80" name="Text 78"/>
          <p:cNvSpPr/>
          <p:nvPr/>
        </p:nvSpPr>
        <p:spPr>
          <a:xfrm>
            <a:off x="5413248" y="5029200"/>
            <a:ext cx="566928" cy="402336"/>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7</a:t>
            </a:r>
            <a:endParaRPr lang="en-US" sz="1500" dirty="0"/>
          </a:p>
        </p:txBody>
      </p:sp>
      <p:sp>
        <p:nvSpPr>
          <p:cNvPr id="81" name="Text 79"/>
          <p:cNvSpPr/>
          <p:nvPr/>
        </p:nvSpPr>
        <p:spPr>
          <a:xfrm>
            <a:off x="6035040"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8</a:t>
            </a:r>
            <a:endParaRPr lang="en-US" sz="1500" dirty="0"/>
          </a:p>
        </p:txBody>
      </p:sp>
      <p:sp>
        <p:nvSpPr>
          <p:cNvPr id="82" name="Text 80"/>
          <p:cNvSpPr/>
          <p:nvPr/>
        </p:nvSpPr>
        <p:spPr>
          <a:xfrm>
            <a:off x="6656832" y="5029200"/>
            <a:ext cx="566928" cy="402336"/>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10</a:t>
            </a:r>
            <a:endParaRPr lang="en-US" sz="1500" dirty="0"/>
          </a:p>
        </p:txBody>
      </p:sp>
      <p:sp>
        <p:nvSpPr>
          <p:cNvPr id="83" name="Text 81"/>
          <p:cNvSpPr txBox="1"/>
          <p:nvPr/>
        </p:nvSpPr>
        <p:spPr>
          <a:xfrm>
            <a:off x="7498080" y="4882896"/>
            <a:ext cx="4160520" cy="731520"/>
          </a:xfrm>
          <a:prstGeom prst="rect">
            <a:avLst/>
          </a:prstGeom>
          <a:noFill/>
          <a:ln/>
        </p:spPr>
        <p:txBody>
          <a:bodyPr wrap="square" lIns="0" tIns="0" rIns="0" bIns="0" rtlCol="0" anchor="t"/>
          <a:lstStyle/>
          <a:p>
            <a:pPr indent="0" marL="0">
              <a:buNone/>
            </a:pPr>
            <a:r>
              <a:rPr lang="en-US" sz="1250" dirty="0">
                <a:solidFill>
                  <a:schemeClr val="tx1"/>
                </a:solidFill>
              </a:rPr>
              <a:t>Left [2, 3, 1, 0] becomes [0, 1, 2, 3].</a:t>
            </a:r>
            <a:endParaRPr lang="en-US" sz="1250" dirty="0"/>
          </a:p>
          <a:p>
            <a:pPr indent="0" marL="0">
              <a:buNone/>
            </a:pPr>
            <a:r>
              <a:rPr lang="en-US" sz="1250" dirty="0">
                <a:solidFill>
                  <a:schemeClr val="tx1"/>
                </a:solidFill>
              </a:rPr>
              <a:t>Right [7, 10, 8] becomes [7, 8, 10].</a:t>
            </a:r>
            <a:endParaRPr lang="en-US" sz="1250" dirty="0"/>
          </a:p>
        </p:txBody>
      </p:sp>
      <p:sp>
        <p:nvSpPr>
          <p:cNvPr id="84" name="Shape 82"/>
          <p:cNvSpPr/>
          <p:nvPr/>
        </p:nvSpPr>
        <p:spPr>
          <a:xfrm>
            <a:off x="548640" y="5742432"/>
            <a:ext cx="11109960" cy="658368"/>
          </a:xfrm>
          <a:prstGeom prst="roundRect">
            <a:avLst>
              <a:gd name="adj" fmla="val 13889"/>
            </a:avLst>
          </a:prstGeom>
          <a:solidFill>
            <a:schemeClr val="bg2"/>
          </a:solidFill>
          <a:ln w="6350">
            <a:solidFill>
              <a:schemeClr val="bg2"/>
            </a:solidFill>
            <a:prstDash val="solid"/>
          </a:ln>
        </p:spPr>
      </p:sp>
      <p:sp>
        <p:nvSpPr>
          <p:cNvPr id="85" name="Text 83"/>
          <p:cNvSpPr txBox="1"/>
          <p:nvPr/>
        </p:nvSpPr>
        <p:spPr>
          <a:xfrm>
            <a:off x="731520" y="5760720"/>
            <a:ext cx="10789920" cy="621792"/>
          </a:xfrm>
          <a:prstGeom prst="rect">
            <a:avLst/>
          </a:prstGeom>
          <a:noFill/>
          <a:ln/>
        </p:spPr>
        <p:txBody>
          <a:bodyPr wrap="square" lIns="0" tIns="0" rIns="0" bIns="0" rtlCol="0" anchor="ctr"/>
          <a:lstStyle/>
          <a:p>
            <a:pPr indent="0" marL="0">
              <a:buNone/>
            </a:pPr>
            <a:r>
              <a:rPr lang="en-US" sz="1250" b="1" dirty="0">
                <a:solidFill>
                  <a:schemeClr val="accent2"/>
                </a:solidFill>
              </a:rPr>
              <a:t>Technical note: </a:t>
            </a:r>
            <a:pPr indent="0" marL="0">
              <a:buNone/>
            </a:pPr>
            <a:r>
              <a:rPr lang="en-US" sz="1250" dirty="0">
                <a:solidFill>
                  <a:schemeClr val="tx1"/>
                </a:solidFill>
              </a:rPr>
              <a:t>7 is only the comparison value. The code splits at j and i, it does not lock the pivot in place. Here 7 happens to land at index 4, but it stays inside the right partition and is processed again.</a:t>
            </a:r>
            <a:endParaRPr lang="en-US" sz="125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Pseudocode</a:t>
            </a:r>
            <a:endParaRPr lang="en-US" sz="3600" dirty="0"/>
          </a:p>
        </p:txBody>
      </p:sp>
      <p:sp>
        <p:nvSpPr>
          <p:cNvPr id="3" name="Shape 1"/>
          <p:cNvSpPr/>
          <p:nvPr/>
        </p:nvSpPr>
        <p:spPr>
          <a:xfrm>
            <a:off x="548640" y="1188720"/>
            <a:ext cx="5760720" cy="5120640"/>
          </a:xfrm>
          <a:prstGeom prst="roundRect">
            <a:avLst>
              <a:gd name="adj" fmla="val 1786"/>
            </a:avLst>
          </a:prstGeom>
          <a:solidFill>
            <a:schemeClr val="bg2"/>
          </a:solidFill>
          <a:ln w="6350">
            <a:solidFill>
              <a:schemeClr val="bg2"/>
            </a:solidFill>
            <a:prstDash val="solid"/>
          </a:ln>
        </p:spPr>
      </p:sp>
      <p:sp>
        <p:nvSpPr>
          <p:cNvPr id="4" name="Text 2"/>
          <p:cNvSpPr txBox="1"/>
          <p:nvPr/>
        </p:nvSpPr>
        <p:spPr>
          <a:xfrm>
            <a:off x="640080" y="1243584"/>
            <a:ext cx="5577840" cy="5010912"/>
          </a:xfrm>
          <a:prstGeom prst="rect">
            <a:avLst/>
          </a:prstGeom>
          <a:noFill/>
          <a:ln/>
        </p:spPr>
        <p:txBody>
          <a:bodyPr wrap="square" lIns="50800" tIns="50800" rIns="50800" bIns="50800" rtlCol="0" anchor="t"/>
          <a:lstStyle/>
          <a:p>
            <a:pPr indent="0" marL="0">
              <a:lnSpc>
                <a:spcPts val="1800"/>
              </a:lnSpc>
              <a:buNone/>
            </a:pPr>
            <a:r>
              <a:rPr lang="en-US" sz="1500" b="1" dirty="0">
                <a:solidFill>
                  <a:schemeClr val="tx2"/>
                </a:solidFill>
                <a:latin typeface="Courier New" pitchFamily="34" charset="0"/>
                <a:ea typeface="Courier New" pitchFamily="34" charset="-122"/>
                <a:cs typeface="Courier New" pitchFamily="34" charset="-120"/>
              </a:rPr>
              <a:t>QUICKSORT(arr, low, high):</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 = low</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j = high</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b="1" dirty="0">
                <a:solidFill>
                  <a:schemeClr val="accent2"/>
                </a:solidFill>
                <a:latin typeface="Courier New" pitchFamily="34" charset="0"/>
                <a:ea typeface="Courier New" pitchFamily="34" charset="-122"/>
                <a:cs typeface="Courier New" pitchFamily="34" charset="-120"/>
              </a:rPr>
              <a:t>    pivot = arr[low + (high - low) / 2]</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while i &lt;= j:</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b="1" dirty="0">
                <a:solidFill>
                  <a:schemeClr val="accent1"/>
                </a:solidFill>
                <a:latin typeface="Courier New" pitchFamily="34" charset="0"/>
                <a:ea typeface="Courier New" pitchFamily="34" charset="-122"/>
                <a:cs typeface="Courier New" pitchFamily="34" charset="-120"/>
              </a:rPr>
              <a:t>        while arr[i] &lt; pivot:</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 = i + 1</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b="1" dirty="0">
                <a:solidFill>
                  <a:schemeClr val="accent3"/>
                </a:solidFill>
                <a:latin typeface="Courier New" pitchFamily="34" charset="0"/>
                <a:ea typeface="Courier New" pitchFamily="34" charset="-122"/>
                <a:cs typeface="Courier New" pitchFamily="34" charset="-120"/>
              </a:rPr>
              <a:t>        while arr[j] &gt; pivot:</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j = j - 1</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if i &lt;= j:</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swap(arr[i], arr[j])</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 = i + 1</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j = j - 1</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if low &lt; j:</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QUICKSORT(arr, low, j)</a:t>
            </a:r>
            <a:endParaRPr lang="en-US" sz="1500" dirty="0"/>
          </a:p>
          <a:p>
            <a:pPr indent="0" marL="0">
              <a:lnSpc>
                <a:spcPts val="1000"/>
              </a:lnSpc>
              <a:buNone/>
            </a:pPr>
            <a:r>
              <a:rPr lang="en-US" sz="1000" dirty="0">
                <a:solidFill>
                  <a:schemeClr val="tx1"/>
                </a:solidFill>
                <a:latin typeface="Courier New" pitchFamily="34" charset="0"/>
                <a:ea typeface="Courier New" pitchFamily="34" charset="-122"/>
                <a:cs typeface="Courier New" pitchFamily="34" charset="-120"/>
              </a:rPr>
              <a:t> </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if i &lt; high:</a:t>
            </a:r>
            <a:endParaRPr lang="en-US" sz="1500" dirty="0"/>
          </a:p>
          <a:p>
            <a:pPr indent="0" marL="0">
              <a:lnSpc>
                <a:spcPts val="1800"/>
              </a:lnSpc>
              <a:buNone/>
            </a:pPr>
            <a:r>
              <a:rPr lang="en-US" sz="1500" dirty="0">
                <a:solidFill>
                  <a:schemeClr val="tx1"/>
                </a:solidFill>
                <a:latin typeface="Courier New" pitchFamily="34" charset="0"/>
                <a:ea typeface="Courier New" pitchFamily="34" charset="-122"/>
                <a:cs typeface="Courier New" pitchFamily="34" charset="-120"/>
              </a:rPr>
              <a:t>        QUICKSORT(arr, i, high)</a:t>
            </a:r>
            <a:endParaRPr lang="en-US" sz="1500" dirty="0"/>
          </a:p>
        </p:txBody>
      </p:sp>
      <p:sp>
        <p:nvSpPr>
          <p:cNvPr id="5" name="Shape 3"/>
          <p:cNvSpPr/>
          <p:nvPr/>
        </p:nvSpPr>
        <p:spPr>
          <a:xfrm>
            <a:off x="6583680" y="1188720"/>
            <a:ext cx="5074920" cy="768096"/>
          </a:xfrm>
          <a:prstGeom prst="roundRect">
            <a:avLst>
              <a:gd name="adj" fmla="val 11905"/>
            </a:avLst>
          </a:prstGeom>
          <a:solidFill>
            <a:schemeClr val="bg2"/>
          </a:solidFill>
          <a:ln w="6350">
            <a:solidFill>
              <a:schemeClr val="bg2"/>
            </a:solidFill>
            <a:prstDash val="solid"/>
          </a:ln>
        </p:spPr>
      </p:sp>
      <p:sp>
        <p:nvSpPr>
          <p:cNvPr id="6" name="Text 4"/>
          <p:cNvSpPr/>
          <p:nvPr/>
        </p:nvSpPr>
        <p:spPr>
          <a:xfrm>
            <a:off x="6748272" y="1426464"/>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5"/>
          <p:cNvSpPr txBox="1"/>
          <p:nvPr/>
        </p:nvSpPr>
        <p:spPr>
          <a:xfrm>
            <a:off x="7178040" y="1234440"/>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low, high: </a:t>
            </a:r>
            <a:pPr indent="0" marL="0">
              <a:buNone/>
            </a:pPr>
            <a:r>
              <a:rPr lang="en-US" sz="1350" dirty="0">
                <a:solidFill>
                  <a:schemeClr val="tx1"/>
                </a:solidFill>
              </a:rPr>
              <a:t>Index range of the sub-array being sorted.</a:t>
            </a:r>
            <a:endParaRPr lang="en-US" sz="1350" dirty="0"/>
          </a:p>
        </p:txBody>
      </p:sp>
      <p:sp>
        <p:nvSpPr>
          <p:cNvPr id="8" name="Shape 6"/>
          <p:cNvSpPr/>
          <p:nvPr/>
        </p:nvSpPr>
        <p:spPr>
          <a:xfrm>
            <a:off x="6583680" y="2048256"/>
            <a:ext cx="5074920" cy="768096"/>
          </a:xfrm>
          <a:prstGeom prst="roundRect">
            <a:avLst>
              <a:gd name="adj" fmla="val 11905"/>
            </a:avLst>
          </a:prstGeom>
          <a:solidFill>
            <a:schemeClr val="bg2"/>
          </a:solidFill>
          <a:ln w="6350">
            <a:solidFill>
              <a:schemeClr val="bg2"/>
            </a:solidFill>
            <a:prstDash val="solid"/>
          </a:ln>
        </p:spPr>
      </p:sp>
      <p:sp>
        <p:nvSpPr>
          <p:cNvPr id="9" name="Text 7"/>
          <p:cNvSpPr/>
          <p:nvPr/>
        </p:nvSpPr>
        <p:spPr>
          <a:xfrm>
            <a:off x="6748272" y="2286000"/>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8"/>
          <p:cNvSpPr txBox="1"/>
          <p:nvPr/>
        </p:nvSpPr>
        <p:spPr>
          <a:xfrm>
            <a:off x="7178040" y="2093976"/>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i, j: </a:t>
            </a:r>
            <a:pPr indent="0" marL="0">
              <a:buNone/>
            </a:pPr>
            <a:r>
              <a:rPr lang="en-US" sz="1350" dirty="0">
                <a:solidFill>
                  <a:schemeClr val="tx1"/>
                </a:solidFill>
              </a:rPr>
              <a:t>Scanning pointers: i starts at the left end, j at the right end.</a:t>
            </a:r>
            <a:endParaRPr lang="en-US" sz="1350" dirty="0"/>
          </a:p>
        </p:txBody>
      </p:sp>
      <p:sp>
        <p:nvSpPr>
          <p:cNvPr id="11" name="Shape 9"/>
          <p:cNvSpPr/>
          <p:nvPr/>
        </p:nvSpPr>
        <p:spPr>
          <a:xfrm>
            <a:off x="6583680" y="2907792"/>
            <a:ext cx="5074920" cy="768096"/>
          </a:xfrm>
          <a:prstGeom prst="roundRect">
            <a:avLst>
              <a:gd name="adj" fmla="val 11905"/>
            </a:avLst>
          </a:prstGeom>
          <a:solidFill>
            <a:schemeClr val="bg2"/>
          </a:solidFill>
          <a:ln w="6350">
            <a:solidFill>
              <a:schemeClr val="bg2"/>
            </a:solidFill>
            <a:prstDash val="solid"/>
          </a:ln>
        </p:spPr>
      </p:sp>
      <p:sp>
        <p:nvSpPr>
          <p:cNvPr id="12" name="Text 10"/>
          <p:cNvSpPr/>
          <p:nvPr/>
        </p:nvSpPr>
        <p:spPr>
          <a:xfrm>
            <a:off x="6748272" y="3145536"/>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7178040" y="2953512"/>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pivot: </a:t>
            </a:r>
            <a:pPr indent="0" marL="0">
              <a:buNone/>
            </a:pPr>
            <a:r>
              <a:rPr lang="en-US" sz="1350" dirty="0">
                <a:solidFill>
                  <a:schemeClr val="tx1"/>
                </a:solidFill>
              </a:rPr>
              <a:t>Middle-position value that i and j compare against.</a:t>
            </a:r>
            <a:endParaRPr lang="en-US" sz="1350" dirty="0"/>
          </a:p>
        </p:txBody>
      </p:sp>
      <p:sp>
        <p:nvSpPr>
          <p:cNvPr id="14" name="Shape 12"/>
          <p:cNvSpPr/>
          <p:nvPr/>
        </p:nvSpPr>
        <p:spPr>
          <a:xfrm>
            <a:off x="6583680" y="3767328"/>
            <a:ext cx="5074920" cy="768096"/>
          </a:xfrm>
          <a:prstGeom prst="roundRect">
            <a:avLst>
              <a:gd name="adj" fmla="val 11905"/>
            </a:avLst>
          </a:prstGeom>
          <a:solidFill>
            <a:schemeClr val="bg2"/>
          </a:solidFill>
          <a:ln w="6350">
            <a:solidFill>
              <a:schemeClr val="bg2"/>
            </a:solidFill>
            <a:prstDash val="solid"/>
          </a:ln>
        </p:spPr>
      </p:sp>
      <p:sp>
        <p:nvSpPr>
          <p:cNvPr id="15" name="Text 13"/>
          <p:cNvSpPr/>
          <p:nvPr/>
        </p:nvSpPr>
        <p:spPr>
          <a:xfrm>
            <a:off x="6748272" y="4005072"/>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4"/>
          <p:cNvSpPr txBox="1"/>
          <p:nvPr/>
        </p:nvSpPr>
        <p:spPr>
          <a:xfrm>
            <a:off x="7178040" y="3813048"/>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while loops: </a:t>
            </a:r>
            <a:pPr indent="0" marL="0">
              <a:buNone/>
            </a:pPr>
            <a:r>
              <a:rPr lang="en-US" sz="1350" dirty="0">
                <a:solidFill>
                  <a:schemeClr val="tx1"/>
                </a:solidFill>
              </a:rPr>
              <a:t>Inner loops stop i and j at out-of-place elements; the outer loop runs until i &gt; j.</a:t>
            </a:r>
            <a:endParaRPr lang="en-US" sz="1350" dirty="0"/>
          </a:p>
        </p:txBody>
      </p:sp>
      <p:sp>
        <p:nvSpPr>
          <p:cNvPr id="17" name="Shape 15"/>
          <p:cNvSpPr/>
          <p:nvPr/>
        </p:nvSpPr>
        <p:spPr>
          <a:xfrm>
            <a:off x="6583680" y="4626864"/>
            <a:ext cx="5074920" cy="768096"/>
          </a:xfrm>
          <a:prstGeom prst="roundRect">
            <a:avLst>
              <a:gd name="adj" fmla="val 11905"/>
            </a:avLst>
          </a:prstGeom>
          <a:solidFill>
            <a:schemeClr val="bg2"/>
          </a:solidFill>
          <a:ln w="6350">
            <a:solidFill>
              <a:schemeClr val="bg2"/>
            </a:solidFill>
            <a:prstDash val="solid"/>
          </a:ln>
        </p:spPr>
      </p:sp>
      <p:sp>
        <p:nvSpPr>
          <p:cNvPr id="18" name="Text 16"/>
          <p:cNvSpPr/>
          <p:nvPr/>
        </p:nvSpPr>
        <p:spPr>
          <a:xfrm>
            <a:off x="6748272" y="4864608"/>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7"/>
          <p:cNvSpPr txBox="1"/>
          <p:nvPr/>
        </p:nvSpPr>
        <p:spPr>
          <a:xfrm>
            <a:off x="7178040" y="4672584"/>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swapping: </a:t>
            </a:r>
            <a:pPr indent="0" marL="0">
              <a:buNone/>
            </a:pPr>
            <a:r>
              <a:rPr lang="en-US" sz="1350" dirty="0">
                <a:solidFill>
                  <a:schemeClr val="tx1"/>
                </a:solidFill>
              </a:rPr>
              <a:t>Exchanges the out-of-place pair, then moves both pointers inward.</a:t>
            </a:r>
            <a:endParaRPr lang="en-US" sz="1350" dirty="0"/>
          </a:p>
        </p:txBody>
      </p:sp>
      <p:sp>
        <p:nvSpPr>
          <p:cNvPr id="20" name="Shape 18"/>
          <p:cNvSpPr/>
          <p:nvPr/>
        </p:nvSpPr>
        <p:spPr>
          <a:xfrm>
            <a:off x="6583680" y="5486400"/>
            <a:ext cx="5074920" cy="768096"/>
          </a:xfrm>
          <a:prstGeom prst="roundRect">
            <a:avLst>
              <a:gd name="adj" fmla="val 11905"/>
            </a:avLst>
          </a:prstGeom>
          <a:solidFill>
            <a:schemeClr val="bg2"/>
          </a:solidFill>
          <a:ln w="6350">
            <a:solidFill>
              <a:schemeClr val="bg2"/>
            </a:solidFill>
            <a:prstDash val="solid"/>
          </a:ln>
        </p:spPr>
      </p:sp>
      <p:sp>
        <p:nvSpPr>
          <p:cNvPr id="21" name="Text 19"/>
          <p:cNvSpPr/>
          <p:nvPr/>
        </p:nvSpPr>
        <p:spPr>
          <a:xfrm>
            <a:off x="6748272" y="5724144"/>
            <a:ext cx="292608" cy="292608"/>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2" name="Text 20"/>
          <p:cNvSpPr txBox="1"/>
          <p:nvPr/>
        </p:nvSpPr>
        <p:spPr>
          <a:xfrm>
            <a:off x="7178040" y="5532120"/>
            <a:ext cx="4370832" cy="676656"/>
          </a:xfrm>
          <a:prstGeom prst="rect">
            <a:avLst/>
          </a:prstGeom>
          <a:noFill/>
          <a:ln/>
        </p:spPr>
        <p:txBody>
          <a:bodyPr wrap="square" lIns="0" tIns="0" rIns="0" bIns="0" rtlCol="0" anchor="ctr"/>
          <a:lstStyle/>
          <a:p>
            <a:pPr indent="0" marL="0">
              <a:buNone/>
            </a:pPr>
            <a:r>
              <a:rPr lang="en-US" sz="1350" b="1" dirty="0">
                <a:solidFill>
                  <a:schemeClr val="tx2"/>
                </a:solidFill>
              </a:rPr>
              <a:t>recursive calls: </a:t>
            </a:r>
            <a:pPr indent="0" marL="0">
              <a:buNone/>
            </a:pPr>
            <a:r>
              <a:rPr lang="en-US" sz="1350" dirty="0">
                <a:solidFill>
                  <a:schemeClr val="tx1"/>
                </a:solidFill>
              </a:rPr>
              <a:t>Sort low..j and i..high until each partition has at most one element.</a:t>
            </a:r>
            <a:endParaRPr lang="en-US" sz="135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Complete C Implementation</a:t>
            </a:r>
            <a:endParaRPr lang="en-US" sz="3600" dirty="0"/>
          </a:p>
        </p:txBody>
      </p:sp>
      <p:sp>
        <p:nvSpPr>
          <p:cNvPr id="3" name="Shape 1"/>
          <p:cNvSpPr/>
          <p:nvPr/>
        </p:nvSpPr>
        <p:spPr>
          <a:xfrm>
            <a:off x="548640" y="1143000"/>
            <a:ext cx="5806440" cy="5257800"/>
          </a:xfrm>
          <a:prstGeom prst="roundRect">
            <a:avLst>
              <a:gd name="adj" fmla="val 1739"/>
            </a:avLst>
          </a:prstGeom>
          <a:solidFill>
            <a:schemeClr val="bg2"/>
          </a:solidFill>
          <a:ln w="6350">
            <a:solidFill>
              <a:schemeClr val="bg2"/>
            </a:solidFill>
            <a:prstDash val="solid"/>
          </a:ln>
        </p:spPr>
      </p:sp>
      <p:sp>
        <p:nvSpPr>
          <p:cNvPr id="4" name="Text 2"/>
          <p:cNvSpPr txBox="1"/>
          <p:nvPr/>
        </p:nvSpPr>
        <p:spPr>
          <a:xfrm>
            <a:off x="640080" y="1197864"/>
            <a:ext cx="5623560" cy="5148072"/>
          </a:xfrm>
          <a:prstGeom prst="rect">
            <a:avLst/>
          </a:prstGeom>
          <a:noFill/>
          <a:ln/>
        </p:spPr>
        <p:txBody>
          <a:bodyPr wrap="square" lIns="50800" tIns="50800" rIns="50800" bIns="50800" rtlCol="0" anchor="t"/>
          <a:lstStyle/>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#include &lt;stdio.h&gt;</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void quickSort(int arr[], int low, int high)</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int i = low, j = high;</a:t>
            </a:r>
            <a:endParaRPr lang="en-US" sz="1200" dirty="0"/>
          </a:p>
          <a:p>
            <a:pPr indent="0" marL="0">
              <a:lnSpc>
                <a:spcPts val="1390"/>
              </a:lnSpc>
              <a:buNone/>
            </a:pPr>
            <a:r>
              <a:rPr lang="en-US" sz="1200" b="1" dirty="0">
                <a:solidFill>
                  <a:schemeClr val="accent2"/>
                </a:solidFill>
                <a:latin typeface="Courier New" pitchFamily="34" charset="0"/>
                <a:ea typeface="Courier New" pitchFamily="34" charset="-122"/>
                <a:cs typeface="Courier New" pitchFamily="34" charset="-120"/>
              </a:rPr>
              <a:t>    int pivot = arr[low + (high - low) / 2];</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while (i &lt;= j)</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b="1" dirty="0">
                <a:solidFill>
                  <a:schemeClr val="accent1"/>
                </a:solidFill>
                <a:latin typeface="Courier New" pitchFamily="34" charset="0"/>
                <a:ea typeface="Courier New" pitchFamily="34" charset="-122"/>
                <a:cs typeface="Courier New" pitchFamily="34" charset="-120"/>
              </a:rPr>
              <a:t>        while (arr[i] &lt; pivot)</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b="1" dirty="0">
                <a:solidFill>
                  <a:schemeClr val="accent3"/>
                </a:solidFill>
                <a:latin typeface="Courier New" pitchFamily="34" charset="0"/>
                <a:ea typeface="Courier New" pitchFamily="34" charset="-122"/>
                <a:cs typeface="Courier New" pitchFamily="34" charset="-120"/>
              </a:rPr>
              <a:t>        while (arr[j] &gt; pivot)</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j--;</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if (i &lt;= j)</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int temp = arr[i];</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arr[i] = arr[j];</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arr[j] = temp;</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j--;</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if (low &lt; j)</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quickSort(arr, low, j);</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if (i &lt; high)</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quickSort(arr, i, high);</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5" name="Shape 3"/>
          <p:cNvSpPr/>
          <p:nvPr/>
        </p:nvSpPr>
        <p:spPr>
          <a:xfrm>
            <a:off x="6537960" y="1143000"/>
            <a:ext cx="5120640" cy="2331720"/>
          </a:xfrm>
          <a:prstGeom prst="roundRect">
            <a:avLst>
              <a:gd name="adj" fmla="val 3922"/>
            </a:avLst>
          </a:prstGeom>
          <a:solidFill>
            <a:schemeClr val="bg2"/>
          </a:solidFill>
          <a:ln w="6350">
            <a:solidFill>
              <a:schemeClr val="bg2"/>
            </a:solidFill>
            <a:prstDash val="solid"/>
          </a:ln>
        </p:spPr>
      </p:sp>
      <p:sp>
        <p:nvSpPr>
          <p:cNvPr id="6" name="Text 4"/>
          <p:cNvSpPr txBox="1"/>
          <p:nvPr/>
        </p:nvSpPr>
        <p:spPr>
          <a:xfrm>
            <a:off x="6629400" y="1197864"/>
            <a:ext cx="4937760" cy="2221992"/>
          </a:xfrm>
          <a:prstGeom prst="rect">
            <a:avLst/>
          </a:prstGeom>
          <a:noFill/>
          <a:ln/>
        </p:spPr>
        <p:txBody>
          <a:bodyPr wrap="square" lIns="50800" tIns="50800" rIns="50800" bIns="50800" rtlCol="0" anchor="t"/>
          <a:lstStyle/>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int main()</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int arr[] = {8, 3, 1, 7, 0, 10, 2};</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int n = sizeof(arr) / sizeof(arr[0]);</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quickSort(arr, 0, n - 1);</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printf("Sorted array: ");</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for (int i = 0; i &lt; n; i++)</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printf("%d ", arr[i]);</a:t>
            </a:r>
            <a:endParaRPr lang="en-US" sz="1200" dirty="0"/>
          </a:p>
          <a:p>
            <a:pPr indent="0" marL="0">
              <a:lnSpc>
                <a:spcPts val="600"/>
              </a:lnSpc>
              <a:buNone/>
            </a:pPr>
            <a:r>
              <a:rPr lang="en-US" sz="6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    return 0;</a:t>
            </a:r>
            <a:endParaRPr lang="en-US" sz="1200" dirty="0"/>
          </a:p>
          <a:p>
            <a:pPr indent="0" marL="0">
              <a:lnSpc>
                <a:spcPts val="1390"/>
              </a:lnSpc>
              <a:buNone/>
            </a:pPr>
            <a:r>
              <a:rPr lang="en-US" sz="1200" dirty="0">
                <a:solidFill>
                  <a:schemeClr val="tx1"/>
                </a:solidFill>
                <a:latin typeface="Courier New" pitchFamily="34" charset="0"/>
                <a:ea typeface="Courier New" pitchFamily="34" charset="-122"/>
                <a:cs typeface="Courier New" pitchFamily="34" charset="-120"/>
              </a:rPr>
              <a:t>}</a:t>
            </a:r>
            <a:endParaRPr lang="en-US" sz="1200" dirty="0"/>
          </a:p>
        </p:txBody>
      </p:sp>
      <p:sp>
        <p:nvSpPr>
          <p:cNvPr id="7" name="Text 5"/>
          <p:cNvSpPr/>
          <p:nvPr/>
        </p:nvSpPr>
        <p:spPr>
          <a:xfrm>
            <a:off x="6537960" y="3584448"/>
            <a:ext cx="5120640" cy="384048"/>
          </a:xfrm>
          <a:prstGeom prst="roundRect">
            <a:avLst>
              <a:gd name="adj" fmla="val 19048"/>
            </a:avLst>
          </a:prstGeom>
          <a:solidFill>
            <a:schemeClr val="bg1"/>
          </a:solidFill>
          <a:ln w="15875">
            <a:solidFill>
              <a:schemeClr val="accent2"/>
            </a:solidFill>
          </a:ln>
        </p:spPr>
        <p:txBody>
          <a:bodyPr wrap="square" lIns="101600" tIns="101600" rIns="101600" bIns="101600" rtlCol="0" anchor="ctr"/>
          <a:lstStyle/>
          <a:p>
            <a:pPr indent="0" marL="0">
              <a:buNone/>
            </a:pPr>
            <a:r>
              <a:rPr lang="en-US" sz="1300" b="1" dirty="0">
                <a:solidFill>
                  <a:schemeClr val="accent2"/>
                </a:solidFill>
              </a:rPr>
              <a:t>Output:  </a:t>
            </a:r>
            <a:pPr indent="0" marL="0">
              <a:buNone/>
            </a:pPr>
            <a:r>
              <a:rPr lang="en-US" sz="1300" b="1" dirty="0">
                <a:solidFill>
                  <a:schemeClr val="tx1"/>
                </a:solidFill>
                <a:latin typeface="Courier New" pitchFamily="34" charset="0"/>
                <a:ea typeface="Courier New" pitchFamily="34" charset="-122"/>
                <a:cs typeface="Courier New" pitchFamily="34" charset="-120"/>
              </a:rPr>
              <a:t>Sorted array: 0 1 2 3 7 8 10</a:t>
            </a:r>
            <a:endParaRPr lang="en-US" sz="1300" dirty="0"/>
          </a:p>
        </p:txBody>
      </p:sp>
      <p:sp>
        <p:nvSpPr>
          <p:cNvPr id="8" name="Text 6"/>
          <p:cNvSpPr/>
          <p:nvPr/>
        </p:nvSpPr>
        <p:spPr>
          <a:xfrm>
            <a:off x="6537960" y="4142232"/>
            <a:ext cx="256032" cy="25603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9" name="Text 7"/>
          <p:cNvSpPr txBox="1"/>
          <p:nvPr/>
        </p:nvSpPr>
        <p:spPr>
          <a:xfrm>
            <a:off x="6903720" y="4096512"/>
            <a:ext cx="4754880" cy="36576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int i = low, j = high;</a:t>
            </a:r>
            <a:endParaRPr lang="en-US" sz="1100" dirty="0"/>
          </a:p>
          <a:p>
            <a:pPr indent="0" marL="0">
              <a:buNone/>
            </a:pPr>
            <a:r>
              <a:rPr lang="en-US" sz="1200" dirty="0">
                <a:solidFill>
                  <a:schemeClr val="tx1"/>
                </a:solidFill>
              </a:rPr>
              <a:t>initializes the two pointers.</a:t>
            </a:r>
            <a:endParaRPr lang="en-US" sz="1100" dirty="0"/>
          </a:p>
        </p:txBody>
      </p:sp>
      <p:sp>
        <p:nvSpPr>
          <p:cNvPr id="10" name="Text 8"/>
          <p:cNvSpPr/>
          <p:nvPr/>
        </p:nvSpPr>
        <p:spPr>
          <a:xfrm>
            <a:off x="6537960" y="4526280"/>
            <a:ext cx="256032" cy="256032"/>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6903720" y="4480560"/>
            <a:ext cx="4754880" cy="365760"/>
          </a:xfrm>
          <a:prstGeom prst="rect">
            <a:avLst/>
          </a:prstGeom>
          <a:noFill/>
          <a:ln/>
        </p:spPr>
        <p:txBody>
          <a:bodyPr wrap="square" lIns="0" tIns="0" rIns="0" bIns="0" rtlCol="0" anchor="ctr"/>
          <a:lstStyle/>
          <a:p>
            <a:pPr indent="0" marL="0">
              <a:buNone/>
            </a:pPr>
            <a:r>
              <a:rPr lang="en-US" sz="1100" b="1" dirty="0">
                <a:solidFill>
                  <a:schemeClr val="accent2"/>
                </a:solidFill>
                <a:latin typeface="Courier New" pitchFamily="34" charset="0"/>
                <a:ea typeface="Courier New" pitchFamily="34" charset="-122"/>
                <a:cs typeface="Courier New" pitchFamily="34" charset="-120"/>
              </a:rPr>
              <a:t>int pivot = arr[low + (high - low) / 2];</a:t>
            </a:r>
            <a:endParaRPr lang="en-US" sz="1100" dirty="0"/>
          </a:p>
          <a:p>
            <a:pPr indent="0" marL="0">
              <a:buNone/>
            </a:pPr>
            <a:r>
              <a:rPr lang="en-US" sz="1200" dirty="0">
                <a:solidFill>
                  <a:schemeClr val="tx1"/>
                </a:solidFill>
              </a:rPr>
              <a:t>middle-position pivot.</a:t>
            </a:r>
            <a:endParaRPr lang="en-US" sz="1100" dirty="0"/>
          </a:p>
        </p:txBody>
      </p:sp>
      <p:sp>
        <p:nvSpPr>
          <p:cNvPr id="12" name="Text 10"/>
          <p:cNvSpPr/>
          <p:nvPr/>
        </p:nvSpPr>
        <p:spPr>
          <a:xfrm>
            <a:off x="6537960" y="4910328"/>
            <a:ext cx="256032" cy="256032"/>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1"/>
          <p:cNvSpPr txBox="1"/>
          <p:nvPr/>
        </p:nvSpPr>
        <p:spPr>
          <a:xfrm>
            <a:off x="6903720" y="4864608"/>
            <a:ext cx="4754880" cy="365760"/>
          </a:xfrm>
          <a:prstGeom prst="rect">
            <a:avLst/>
          </a:prstGeom>
          <a:noFill/>
          <a:ln/>
        </p:spPr>
        <p:txBody>
          <a:bodyPr wrap="square" lIns="0" tIns="0" rIns="0" bIns="0" rtlCol="0" anchor="ctr"/>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while (arr[i] &lt; pivot)</a:t>
            </a:r>
            <a:endParaRPr lang="en-US" sz="1100" dirty="0"/>
          </a:p>
          <a:p>
            <a:pPr indent="0" marL="0">
              <a:buNone/>
            </a:pPr>
            <a:r>
              <a:rPr lang="en-US" sz="1200" dirty="0">
                <a:solidFill>
                  <a:schemeClr val="tx1"/>
                </a:solidFill>
              </a:rPr>
              <a:t>moves the left pointer while elements are smaller.</a:t>
            </a:r>
            <a:endParaRPr lang="en-US" sz="1100" dirty="0"/>
          </a:p>
        </p:txBody>
      </p:sp>
      <p:sp>
        <p:nvSpPr>
          <p:cNvPr id="14" name="Text 12"/>
          <p:cNvSpPr/>
          <p:nvPr/>
        </p:nvSpPr>
        <p:spPr>
          <a:xfrm>
            <a:off x="6537960" y="5294376"/>
            <a:ext cx="256032" cy="256032"/>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 13"/>
          <p:cNvSpPr txBox="1"/>
          <p:nvPr/>
        </p:nvSpPr>
        <p:spPr>
          <a:xfrm>
            <a:off x="6903720" y="5248656"/>
            <a:ext cx="4754880" cy="36576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while (arr[j] &gt; pivot)</a:t>
            </a:r>
            <a:endParaRPr lang="en-US" sz="1100" dirty="0"/>
          </a:p>
          <a:p>
            <a:pPr indent="0" marL="0">
              <a:buNone/>
            </a:pPr>
            <a:r>
              <a:rPr lang="en-US" sz="1200" dirty="0">
                <a:solidFill>
                  <a:schemeClr val="tx1"/>
                </a:solidFill>
              </a:rPr>
              <a:t>moves the right pointer while elements are greater.</a:t>
            </a:r>
            <a:endParaRPr lang="en-US" sz="1100" dirty="0"/>
          </a:p>
        </p:txBody>
      </p:sp>
      <p:sp>
        <p:nvSpPr>
          <p:cNvPr id="16" name="Text 14"/>
          <p:cNvSpPr/>
          <p:nvPr/>
        </p:nvSpPr>
        <p:spPr>
          <a:xfrm>
            <a:off x="6537960" y="5678424"/>
            <a:ext cx="256032" cy="25603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7" name="Text 15"/>
          <p:cNvSpPr txBox="1"/>
          <p:nvPr/>
        </p:nvSpPr>
        <p:spPr>
          <a:xfrm>
            <a:off x="6903720" y="5632704"/>
            <a:ext cx="4754880" cy="36576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temp swap</a:t>
            </a:r>
            <a:endParaRPr lang="en-US" sz="1100" dirty="0"/>
          </a:p>
          <a:p>
            <a:pPr indent="0" marL="0">
              <a:buNone/>
            </a:pPr>
            <a:r>
              <a:rPr lang="en-US" sz="1200" dirty="0">
                <a:solidFill>
                  <a:schemeClr val="tx1"/>
                </a:solidFill>
              </a:rPr>
              <a:t>exchanges arr[i] and arr[j].</a:t>
            </a:r>
            <a:endParaRPr lang="en-US" sz="1100" dirty="0"/>
          </a:p>
        </p:txBody>
      </p:sp>
      <p:sp>
        <p:nvSpPr>
          <p:cNvPr id="18" name="Text 16"/>
          <p:cNvSpPr/>
          <p:nvPr/>
        </p:nvSpPr>
        <p:spPr>
          <a:xfrm>
            <a:off x="6537960" y="6062472"/>
            <a:ext cx="256032" cy="256032"/>
          </a:xfrm>
          <a:prstGeom prst="ellipse">
            <a:avLst/>
          </a:prstGeom>
          <a:solidFill>
            <a:schemeClr val="tx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19" name="Text 17"/>
          <p:cNvSpPr txBox="1"/>
          <p:nvPr/>
        </p:nvSpPr>
        <p:spPr>
          <a:xfrm>
            <a:off x="6903720" y="6016752"/>
            <a:ext cx="4754880" cy="365760"/>
          </a:xfrm>
          <a:prstGeom prst="rect">
            <a:avLst/>
          </a:prstGeom>
          <a:noFill/>
          <a:ln/>
        </p:spPr>
        <p:txBody>
          <a:bodyPr wrap="square" lIns="0" tIns="0" rIns="0" bIns="0" rtlCol="0" anchor="ctr"/>
          <a:lstStyle/>
          <a:p>
            <a:pPr indent="0" marL="0">
              <a:buNone/>
            </a:pPr>
            <a:r>
              <a:rPr lang="en-US" sz="1100" b="1" dirty="0">
                <a:solidFill>
                  <a:schemeClr val="tx2"/>
                </a:solidFill>
                <a:latin typeface="Courier New" pitchFamily="34" charset="0"/>
                <a:ea typeface="Courier New" pitchFamily="34" charset="-122"/>
                <a:cs typeface="Courier New" pitchFamily="34" charset="-120"/>
              </a:rPr>
              <a:t>quickSort(...)</a:t>
            </a:r>
            <a:endParaRPr lang="en-US" sz="1100" dirty="0"/>
          </a:p>
          <a:p>
            <a:pPr indent="0" marL="0">
              <a:buNone/>
            </a:pPr>
            <a:r>
              <a:rPr lang="en-US" sz="1200" dirty="0">
                <a:solidFill>
                  <a:schemeClr val="tx1"/>
                </a:solidFill>
              </a:rPr>
              <a:t>recursive calls sort the remaining partitions.</a:t>
            </a:r>
            <a:endParaRPr lang="en-US" sz="11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Time and Space Complexity</a:t>
            </a:r>
            <a:endParaRPr lang="en-US" sz="3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109960" cy="914400"/>
        </p:xfrm>
        <a:graphic>
          <a:graphicData uri="http://schemas.openxmlformats.org/drawingml/2006/table">
            <a:tbl>
              <a:tblPr/>
              <a:tblGrid>
                <a:gridCol w="3200400"/>
                <a:gridCol w="2011680"/>
                <a:gridCol w="5897880"/>
              </a:tblGrid>
              <a:tr h="512064">
                <a:tc>
                  <a:txBody>
                    <a:bodyPr/>
                    <a:lstStyle/>
                    <a:p>
                      <a:pPr indent="0" marL="0">
                        <a:buNone/>
                      </a:pPr>
                      <a:r>
                        <a:rPr lang="en-US" sz="1500" b="1" dirty="0">
                          <a:solidFill>
                            <a:schemeClr val="bg1"/>
                          </a:solidFill>
                        </a:rPr>
                        <a:t>Measure</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Complexity</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Why</a:t>
                      </a:r>
                      <a:endParaRPr lang="en-US" sz="15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tx2"/>
                    </a:solidFill>
                  </a:tcPr>
                </a:tc>
              </a:tr>
              <a:tr h="512064">
                <a:tc>
                  <a:txBody>
                    <a:bodyPr/>
                    <a:lstStyle/>
                    <a:p>
                      <a:pPr indent="0" marL="0">
                        <a:buNone/>
                      </a:pPr>
                      <a:r>
                        <a:rPr lang="en-US" sz="1400" b="1" dirty="0">
                          <a:solidFill>
                            <a:schemeClr val="tx1"/>
                          </a:solidFill>
                        </a:rPr>
                        <a:t>Best-case time</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O(n log n)</a:t>
                      </a:r>
                      <a:endParaRPr lang="en-US" sz="14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Partitions are reasonably balanced, so the recursion depth stays small.</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Average-case time</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O(n log n)</a:t>
                      </a:r>
                      <a:endParaRPr lang="en-US" sz="14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Quick Sort generally performs efficiently on typical inputs.</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Worst-case time</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O(n²)</a:t>
                      </a:r>
                      <a:endParaRPr lang="en-US" sz="14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Highly unbalanced partitions make the recursion very deep.</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Auxiliary space (average)</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2"/>
                          </a:solidFill>
                          <a:latin typeface="Courier New" pitchFamily="34" charset="0"/>
                          <a:ea typeface="Courier New" pitchFamily="34" charset="-122"/>
                          <a:cs typeface="Courier New" pitchFamily="34" charset="-120"/>
                        </a:rPr>
                        <a:t>O(log n)</a:t>
                      </a:r>
                      <a:endParaRPr lang="en-US" sz="14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Only the recursion stack needs extra memory; partitioning is in place.</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r>
              <a:tr h="512064">
                <a:tc>
                  <a:txBody>
                    <a:bodyPr/>
                    <a:lstStyle/>
                    <a:p>
                      <a:pPr indent="0" marL="0">
                        <a:buNone/>
                      </a:pPr>
                      <a:r>
                        <a:rPr lang="en-US" sz="1400" b="1" dirty="0">
                          <a:solidFill>
                            <a:schemeClr val="tx1"/>
                          </a:solidFill>
                        </a:rPr>
                        <a:t>Auxiliary space (worst)</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O(n)</a:t>
                      </a:r>
                      <a:endParaRPr lang="en-US" sz="1400" dirty="0">
                        <a:latin typeface="Courier New" charset="0"/>
                        <a:ea typeface="Courier New" charset="0"/>
                        <a:cs typeface="Courier New" charset="0"/>
                      </a:endParaRPr>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Unbalanced partitions can make the recursion stack grow to depth n.</a:t>
                      </a:r>
                      <a:endParaRPr lang="en-US" sz="1400" dirty="0"/>
                    </a:p>
                  </a:txBody>
                  <a:tcPr marL="109728" marR="109728" marT="0" marB="0" anchor="ct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chemeClr val="bg1"/>
                    </a:solidFill>
                  </a:tcPr>
                </a:tc>
              </a:tr>
            </a:tbl>
          </a:graphicData>
        </a:graphic>
      </p:graphicFrame>
      <p:sp>
        <p:nvSpPr>
          <p:cNvPr id="4" name="Shape 1"/>
          <p:cNvSpPr/>
          <p:nvPr/>
        </p:nvSpPr>
        <p:spPr>
          <a:xfrm>
            <a:off x="548640" y="4663440"/>
            <a:ext cx="11109960" cy="1645920"/>
          </a:xfrm>
          <a:prstGeom prst="roundRect">
            <a:avLst>
              <a:gd name="adj" fmla="val 5556"/>
            </a:avLst>
          </a:prstGeom>
          <a:solidFill>
            <a:schemeClr val="bg2"/>
          </a:solidFill>
          <a:ln w="6350">
            <a:solidFill>
              <a:schemeClr val="bg2"/>
            </a:solidFill>
            <a:prstDash val="solid"/>
          </a:ln>
        </p:spPr>
      </p:sp>
      <p:pic>
        <p:nvPicPr>
          <p:cNvPr id="5" name="Image 0" descr="preencoded.png">    </p:cNvPr>
          <p:cNvPicPr>
            <a:picLocks noChangeAspect="1"/>
          </p:cNvPicPr>
          <p:nvPr/>
        </p:nvPicPr>
        <p:blipFill>
          <a:blip r:embed="rId1"/>
          <a:stretch>
            <a:fillRect/>
          </a:stretch>
        </p:blipFill>
        <p:spPr>
          <a:xfrm>
            <a:off x="822960" y="4892040"/>
            <a:ext cx="457200" cy="457200"/>
          </a:xfrm>
          <a:prstGeom prst="rect">
            <a:avLst/>
          </a:prstGeom>
        </p:spPr>
      </p:pic>
      <p:sp>
        <p:nvSpPr>
          <p:cNvPr id="6" name="Text 2"/>
          <p:cNvSpPr txBox="1"/>
          <p:nvPr/>
        </p:nvSpPr>
        <p:spPr>
          <a:xfrm>
            <a:off x="1508760" y="4754880"/>
            <a:ext cx="9875520" cy="1417320"/>
          </a:xfrm>
          <a:prstGeom prst="rect">
            <a:avLst/>
          </a:prstGeom>
          <a:noFill/>
          <a:ln/>
        </p:spPr>
        <p:txBody>
          <a:bodyPr wrap="square" lIns="0" tIns="0" rIns="0" bIns="0" rtlCol="0" anchor="ctr"/>
          <a:lstStyle/>
          <a:p>
            <a:pPr indent="0" marL="0">
              <a:spcAft>
                <a:spcPts val="600"/>
              </a:spcAft>
              <a:buNone/>
            </a:pPr>
            <a:r>
              <a:rPr lang="en-US" sz="1800" b="1" dirty="0">
                <a:solidFill>
                  <a:schemeClr val="accent3"/>
                </a:solidFill>
              </a:rPr>
              <a:t>A middle pivot does not guarantee balanced partitions</a:t>
            </a:r>
            <a:endParaRPr lang="en-US" sz="1800" dirty="0"/>
          </a:p>
          <a:p>
            <a:pPr indent="0" marL="0">
              <a:buNone/>
            </a:pPr>
            <a:r>
              <a:rPr lang="en-US" sz="1500" dirty="0">
                <a:solidFill>
                  <a:schemeClr val="tx1"/>
                </a:solidFill>
              </a:rPr>
              <a:t>Balance depends on the pivot's value relative to the other elements, not on its position. The middle element can still be among the smallest or largest values in its range, so O(n log n) is not guaranteed and the worst case stays O(n²).</a:t>
            </a:r>
            <a:endParaRPr lang="en-US" sz="18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Advantages, Limitations &amp; Applications</a:t>
            </a:r>
            <a:endParaRPr lang="en-US" sz="3600" dirty="0"/>
          </a:p>
        </p:txBody>
      </p:sp>
      <p:sp>
        <p:nvSpPr>
          <p:cNvPr id="3" name="Shape 1"/>
          <p:cNvSpPr/>
          <p:nvPr/>
        </p:nvSpPr>
        <p:spPr>
          <a:xfrm>
            <a:off x="548640" y="1234440"/>
            <a:ext cx="3611880" cy="4343400"/>
          </a:xfrm>
          <a:prstGeom prst="roundRect">
            <a:avLst>
              <a:gd name="adj" fmla="val 2532"/>
            </a:avLst>
          </a:prstGeom>
          <a:solidFill>
            <a:schemeClr val="bg2"/>
          </a:solidFill>
          <a:ln w="6350">
            <a:solidFill>
              <a:schemeClr val="bg2"/>
            </a:solidFill>
            <a:prstDash val="solid"/>
          </a:ln>
        </p:spPr>
      </p:sp>
      <p:sp>
        <p:nvSpPr>
          <p:cNvPr id="4" name="Shape 2"/>
          <p:cNvSpPr/>
          <p:nvPr/>
        </p:nvSpPr>
        <p:spPr>
          <a:xfrm>
            <a:off x="777240" y="1444752"/>
            <a:ext cx="548640" cy="548640"/>
          </a:xfrm>
          <a:prstGeom prst="ellipse">
            <a:avLst/>
          </a:prstGeom>
          <a:solidFill>
            <a:schemeClr val="accent2"/>
          </a:solidFill>
          <a:ln w="6350">
            <a:solidFill>
              <a:schemeClr val="accent2"/>
            </a:solidFill>
            <a:prstDash val="solid"/>
          </a:ln>
        </p:spPr>
      </p:sp>
      <p:pic>
        <p:nvPicPr>
          <p:cNvPr id="5" name="Image 0" descr="preencoded.png">    </p:cNvPr>
          <p:cNvPicPr>
            <a:picLocks noChangeAspect="1"/>
          </p:cNvPicPr>
          <p:nvPr/>
        </p:nvPicPr>
        <p:blipFill>
          <a:blip r:embed="rId1"/>
          <a:stretch>
            <a:fillRect/>
          </a:stretch>
        </p:blipFill>
        <p:spPr>
          <a:xfrm>
            <a:off x="923544" y="1591056"/>
            <a:ext cx="256032" cy="256032"/>
          </a:xfrm>
          <a:prstGeom prst="rect">
            <a:avLst/>
          </a:prstGeom>
        </p:spPr>
      </p:pic>
      <p:sp>
        <p:nvSpPr>
          <p:cNvPr id="6" name="Text 3"/>
          <p:cNvSpPr txBox="1"/>
          <p:nvPr/>
        </p:nvSpPr>
        <p:spPr>
          <a:xfrm>
            <a:off x="1463040" y="1444752"/>
            <a:ext cx="2560320" cy="548640"/>
          </a:xfrm>
          <a:prstGeom prst="rect">
            <a:avLst/>
          </a:prstGeom>
          <a:noFill/>
          <a:ln/>
        </p:spPr>
        <p:txBody>
          <a:bodyPr wrap="square" lIns="0" tIns="0" rIns="0" bIns="0" rtlCol="0" anchor="ctr"/>
          <a:lstStyle/>
          <a:p>
            <a:pPr indent="0" marL="0">
              <a:buNone/>
            </a:pPr>
            <a:r>
              <a:rPr lang="en-US" sz="2000" b="1" dirty="0">
                <a:solidFill>
                  <a:schemeClr val="tx2"/>
                </a:solidFill>
              </a:rPr>
              <a:t>Advantages</a:t>
            </a:r>
            <a:endParaRPr lang="en-US" sz="2000" dirty="0"/>
          </a:p>
        </p:txBody>
      </p:sp>
      <p:sp>
        <p:nvSpPr>
          <p:cNvPr id="7" name="Text 4"/>
          <p:cNvSpPr txBox="1"/>
          <p:nvPr/>
        </p:nvSpPr>
        <p:spPr>
          <a:xfrm>
            <a:off x="777240" y="2194560"/>
            <a:ext cx="320040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Efficient average-case performance</a:t>
            </a:r>
            <a:endParaRPr lang="en-US" sz="1800" dirty="0"/>
          </a:p>
          <a:p>
            <a:pPr marL="342900" indent="-342900">
              <a:spcAft>
                <a:spcPts val="1200"/>
              </a:spcAft>
              <a:buSzPct val="100000"/>
              <a:buChar char="•"/>
            </a:pPr>
            <a:r>
              <a:rPr lang="en-US" sz="1800" dirty="0">
                <a:solidFill>
                  <a:schemeClr val="tx1"/>
                </a:solidFill>
              </a:rPr>
              <a:t>Uses divide and conquer</a:t>
            </a:r>
            <a:endParaRPr lang="en-US" sz="1800" dirty="0"/>
          </a:p>
          <a:p>
            <a:pPr marL="342900" indent="-342900">
              <a:spcAft>
                <a:spcPts val="1200"/>
              </a:spcAft>
              <a:buSzPct val="100000"/>
              <a:buChar char="•"/>
            </a:pPr>
            <a:r>
              <a:rPr lang="en-US" sz="1800" dirty="0">
                <a:solidFill>
                  <a:schemeClr val="tx1"/>
                </a:solidFill>
              </a:rPr>
              <a:t>Partitions in place, apart from recursion stack space</a:t>
            </a:r>
            <a:endParaRPr lang="en-US" sz="1800" dirty="0"/>
          </a:p>
          <a:p>
            <a:pPr marL="342900" indent="-342900">
              <a:spcAft>
                <a:spcPts val="1200"/>
              </a:spcAft>
              <a:buSzPct val="100000"/>
              <a:buChar char="•"/>
            </a:pPr>
            <a:r>
              <a:rPr lang="en-US" sz="1800" dirty="0">
                <a:solidFill>
                  <a:schemeClr val="tx1"/>
                </a:solidFill>
              </a:rPr>
              <a:t>Suitable for sorting arrays</a:t>
            </a:r>
            <a:endParaRPr lang="en-US" sz="1800" dirty="0"/>
          </a:p>
          <a:p>
            <a:pPr marL="342900" indent="-342900">
              <a:spcAft>
                <a:spcPts val="1200"/>
              </a:spcAft>
              <a:buSzPct val="100000"/>
              <a:buChar char="•"/>
            </a:pPr>
            <a:r>
              <a:rPr lang="en-US" sz="1800" dirty="0">
                <a:solidFill>
                  <a:schemeClr val="tx1"/>
                </a:solidFill>
              </a:rPr>
              <a:t>Low overhead in typical implementations</a:t>
            </a:r>
            <a:endParaRPr lang="en-US" sz="1800" dirty="0"/>
          </a:p>
        </p:txBody>
      </p:sp>
      <p:sp>
        <p:nvSpPr>
          <p:cNvPr id="8" name="Shape 5"/>
          <p:cNvSpPr/>
          <p:nvPr/>
        </p:nvSpPr>
        <p:spPr>
          <a:xfrm>
            <a:off x="4297680" y="1234440"/>
            <a:ext cx="3611880" cy="4343400"/>
          </a:xfrm>
          <a:prstGeom prst="roundRect">
            <a:avLst>
              <a:gd name="adj" fmla="val 2532"/>
            </a:avLst>
          </a:prstGeom>
          <a:solidFill>
            <a:schemeClr val="bg2"/>
          </a:solidFill>
          <a:ln w="6350">
            <a:solidFill>
              <a:schemeClr val="bg2"/>
            </a:solidFill>
            <a:prstDash val="solid"/>
          </a:ln>
        </p:spPr>
      </p:sp>
      <p:sp>
        <p:nvSpPr>
          <p:cNvPr id="9" name="Shape 6"/>
          <p:cNvSpPr/>
          <p:nvPr/>
        </p:nvSpPr>
        <p:spPr>
          <a:xfrm>
            <a:off x="4526280" y="1444752"/>
            <a:ext cx="548640" cy="548640"/>
          </a:xfrm>
          <a:prstGeom prst="ellipse">
            <a:avLst/>
          </a:prstGeom>
          <a:solidFill>
            <a:schemeClr val="accent3"/>
          </a:solidFill>
          <a:ln w="6350">
            <a:solidFill>
              <a:schemeClr val="accent3"/>
            </a:solidFill>
            <a:prstDash val="solid"/>
          </a:ln>
        </p:spPr>
      </p:sp>
      <p:pic>
        <p:nvPicPr>
          <p:cNvPr id="10" name="Image 1" descr="preencoded.png">    </p:cNvPr>
          <p:cNvPicPr>
            <a:picLocks noChangeAspect="1"/>
          </p:cNvPicPr>
          <p:nvPr/>
        </p:nvPicPr>
        <p:blipFill>
          <a:blip r:embed="rId2"/>
          <a:stretch>
            <a:fillRect/>
          </a:stretch>
        </p:blipFill>
        <p:spPr>
          <a:xfrm>
            <a:off x="4672584" y="1591056"/>
            <a:ext cx="256032" cy="256032"/>
          </a:xfrm>
          <a:prstGeom prst="rect">
            <a:avLst/>
          </a:prstGeom>
        </p:spPr>
      </p:pic>
      <p:sp>
        <p:nvSpPr>
          <p:cNvPr id="11" name="Text 7"/>
          <p:cNvSpPr txBox="1"/>
          <p:nvPr/>
        </p:nvSpPr>
        <p:spPr>
          <a:xfrm>
            <a:off x="5212080" y="1444752"/>
            <a:ext cx="2560320" cy="54864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12" name="Text 8"/>
          <p:cNvSpPr txBox="1"/>
          <p:nvPr/>
        </p:nvSpPr>
        <p:spPr>
          <a:xfrm>
            <a:off x="4526280" y="2194560"/>
            <a:ext cx="320040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Worst-case time complexity is O(n²)</a:t>
            </a:r>
            <a:endParaRPr lang="en-US" sz="1800" dirty="0"/>
          </a:p>
          <a:p>
            <a:pPr marL="342900" indent="-342900">
              <a:spcAft>
                <a:spcPts val="1200"/>
              </a:spcAft>
              <a:buSzPct val="100000"/>
              <a:buChar char="•"/>
            </a:pPr>
            <a:r>
              <a:rPr lang="en-US" sz="1800" dirty="0">
                <a:solidFill>
                  <a:schemeClr val="tx1"/>
                </a:solidFill>
              </a:rPr>
              <a:t>Not a stable sorting algorithm</a:t>
            </a:r>
            <a:endParaRPr lang="en-US" sz="1800" dirty="0"/>
          </a:p>
          <a:p>
            <a:pPr marL="342900" indent="-342900">
              <a:spcAft>
                <a:spcPts val="1200"/>
              </a:spcAft>
              <a:buSzPct val="100000"/>
              <a:buChar char="•"/>
            </a:pPr>
            <a:r>
              <a:rPr lang="en-US" sz="1800" dirty="0">
                <a:solidFill>
                  <a:schemeClr val="tx1"/>
                </a:solidFill>
              </a:rPr>
              <a:t>Performance depends on how balanced the partitions are</a:t>
            </a:r>
            <a:endParaRPr lang="en-US" sz="1800" dirty="0"/>
          </a:p>
          <a:p>
            <a:pPr marL="342900" indent="-342900">
              <a:spcAft>
                <a:spcPts val="1200"/>
              </a:spcAft>
              <a:buSzPct val="100000"/>
              <a:buChar char="•"/>
            </a:pPr>
            <a:r>
              <a:rPr lang="en-US" sz="1800" dirty="0">
                <a:solidFill>
                  <a:schemeClr val="tx1"/>
                </a:solidFill>
              </a:rPr>
              <a:t>Recursive calls require stack memory</a:t>
            </a:r>
            <a:endParaRPr lang="en-US" sz="1800" dirty="0"/>
          </a:p>
        </p:txBody>
      </p:sp>
      <p:sp>
        <p:nvSpPr>
          <p:cNvPr id="13" name="Shape 9"/>
          <p:cNvSpPr/>
          <p:nvPr/>
        </p:nvSpPr>
        <p:spPr>
          <a:xfrm>
            <a:off x="8046720" y="1234440"/>
            <a:ext cx="3611880" cy="4343400"/>
          </a:xfrm>
          <a:prstGeom prst="roundRect">
            <a:avLst>
              <a:gd name="adj" fmla="val 2532"/>
            </a:avLst>
          </a:prstGeom>
          <a:solidFill>
            <a:schemeClr val="bg2"/>
          </a:solidFill>
          <a:ln w="6350">
            <a:solidFill>
              <a:schemeClr val="bg2"/>
            </a:solidFill>
            <a:prstDash val="solid"/>
          </a:ln>
        </p:spPr>
      </p:sp>
      <p:sp>
        <p:nvSpPr>
          <p:cNvPr id="14" name="Shape 10"/>
          <p:cNvSpPr/>
          <p:nvPr/>
        </p:nvSpPr>
        <p:spPr>
          <a:xfrm>
            <a:off x="8275320" y="1444752"/>
            <a:ext cx="548640" cy="548640"/>
          </a:xfrm>
          <a:prstGeom prst="ellipse">
            <a:avLst/>
          </a:prstGeom>
          <a:solidFill>
            <a:schemeClr val="accent1"/>
          </a:solidFill>
          <a:ln w="635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421624" y="1591056"/>
            <a:ext cx="256032" cy="256032"/>
          </a:xfrm>
          <a:prstGeom prst="rect">
            <a:avLst/>
          </a:prstGeom>
        </p:spPr>
      </p:pic>
      <p:sp>
        <p:nvSpPr>
          <p:cNvPr id="16" name="Text 11"/>
          <p:cNvSpPr txBox="1"/>
          <p:nvPr/>
        </p:nvSpPr>
        <p:spPr>
          <a:xfrm>
            <a:off x="8961120" y="1444752"/>
            <a:ext cx="2560320" cy="548640"/>
          </a:xfrm>
          <a:prstGeom prst="rect">
            <a:avLst/>
          </a:prstGeom>
          <a:noFill/>
          <a:ln/>
        </p:spPr>
        <p:txBody>
          <a:bodyPr wrap="square" lIns="0" tIns="0" rIns="0" bIns="0" rtlCol="0" anchor="ctr"/>
          <a:lstStyle/>
          <a:p>
            <a:pPr indent="0" marL="0">
              <a:buNone/>
            </a:pPr>
            <a:r>
              <a:rPr lang="en-US" sz="2000" b="1" dirty="0">
                <a:solidFill>
                  <a:schemeClr val="tx2"/>
                </a:solidFill>
              </a:rPr>
              <a:t>Applications</a:t>
            </a:r>
            <a:endParaRPr lang="en-US" sz="2000" dirty="0"/>
          </a:p>
        </p:txBody>
      </p:sp>
      <p:sp>
        <p:nvSpPr>
          <p:cNvPr id="17" name="Text 12"/>
          <p:cNvSpPr txBox="1"/>
          <p:nvPr/>
        </p:nvSpPr>
        <p:spPr>
          <a:xfrm>
            <a:off x="8275320" y="2194560"/>
            <a:ext cx="320040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Sorting arrays and collections</a:t>
            </a:r>
            <a:endParaRPr lang="en-US" sz="1800" dirty="0"/>
          </a:p>
          <a:p>
            <a:pPr marL="342900" indent="-342900">
              <a:spcAft>
                <a:spcPts val="1200"/>
              </a:spcAft>
              <a:buSzPct val="100000"/>
              <a:buChar char="•"/>
            </a:pPr>
            <a:r>
              <a:rPr lang="en-US" sz="1800" dirty="0">
                <a:solidFill>
                  <a:schemeClr val="tx1"/>
                </a:solidFill>
              </a:rPr>
              <a:t>Organizing numerical data</a:t>
            </a:r>
            <a:endParaRPr lang="en-US" sz="1800" dirty="0"/>
          </a:p>
          <a:p>
            <a:pPr marL="342900" indent="-342900">
              <a:spcAft>
                <a:spcPts val="1200"/>
              </a:spcAft>
              <a:buSzPct val="100000"/>
              <a:buChar char="•"/>
            </a:pPr>
            <a:r>
              <a:rPr lang="en-US" sz="1800" dirty="0">
                <a:solidFill>
                  <a:schemeClr val="tx1"/>
                </a:solidFill>
              </a:rPr>
              <a:t>Sorting records according to keys</a:t>
            </a:r>
            <a:endParaRPr lang="en-US" sz="1800" dirty="0"/>
          </a:p>
          <a:p>
            <a:pPr marL="342900" indent="-342900">
              <a:spcAft>
                <a:spcPts val="1200"/>
              </a:spcAft>
              <a:buSzPct val="100000"/>
              <a:buChar char="•"/>
            </a:pPr>
            <a:r>
              <a:rPr lang="en-US" sz="1800" dirty="0">
                <a:solidFill>
                  <a:schemeClr val="tx1"/>
                </a:solidFill>
              </a:rPr>
              <a:t>A foundational algorithm in computer science education</a:t>
            </a:r>
            <a:endParaRPr lang="en-US" sz="1800" dirty="0"/>
          </a:p>
        </p:txBody>
      </p:sp>
      <p:sp>
        <p:nvSpPr>
          <p:cNvPr id="18" name="Text 13"/>
          <p:cNvSpPr txBox="1"/>
          <p:nvPr/>
        </p:nvSpPr>
        <p:spPr>
          <a:xfrm>
            <a:off x="548640" y="5806440"/>
            <a:ext cx="11109960" cy="457200"/>
          </a:xfrm>
          <a:prstGeom prst="rect">
            <a:avLst/>
          </a:prstGeom>
          <a:noFill/>
          <a:ln/>
        </p:spPr>
        <p:txBody>
          <a:bodyPr wrap="square" lIns="0" tIns="0" rIns="0" bIns="0" rtlCol="0" anchor="ctr"/>
          <a:lstStyle/>
          <a:p>
            <a:pPr algn="l" indent="0" marL="0">
              <a:buNone/>
            </a:pPr>
            <a:r>
              <a:rPr lang="en-US" sz="1700" i="1" dirty="0">
                <a:solidFill>
                  <a:schemeClr val="accent6"/>
                </a:solidFill>
              </a:rPr>
              <a:t>Quick Sort is often fast in practice, but it is not always the fastest sorting algorithm.</a:t>
            </a:r>
            <a:endParaRPr lang="en-US" sz="17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Conclusion</a:t>
            </a:r>
            <a:endParaRPr lang="en-US" sz="3600" dirty="0"/>
          </a:p>
        </p:txBody>
      </p:sp>
      <p:sp>
        <p:nvSpPr>
          <p:cNvPr id="3" name="Shape 1"/>
          <p:cNvSpPr/>
          <p:nvPr/>
        </p:nvSpPr>
        <p:spPr>
          <a:xfrm>
            <a:off x="548640" y="1234440"/>
            <a:ext cx="6035040" cy="1051560"/>
          </a:xfrm>
          <a:prstGeom prst="roundRect">
            <a:avLst>
              <a:gd name="adj" fmla="val 8696"/>
            </a:avLst>
          </a:prstGeom>
          <a:solidFill>
            <a:schemeClr val="bg2"/>
          </a:solidFill>
          <a:ln w="6350">
            <a:solidFill>
              <a:schemeClr val="bg2"/>
            </a:solidFill>
            <a:prstDash val="solid"/>
          </a:ln>
        </p:spPr>
      </p:sp>
      <p:sp>
        <p:nvSpPr>
          <p:cNvPr id="4" name="Text 2"/>
          <p:cNvSpPr/>
          <p:nvPr/>
        </p:nvSpPr>
        <p:spPr>
          <a:xfrm>
            <a:off x="777240" y="1581912"/>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 name="Text 3"/>
          <p:cNvSpPr txBox="1"/>
          <p:nvPr/>
        </p:nvSpPr>
        <p:spPr>
          <a:xfrm>
            <a:off x="1325880" y="1280160"/>
            <a:ext cx="5120640" cy="960120"/>
          </a:xfrm>
          <a:prstGeom prst="rect">
            <a:avLst/>
          </a:prstGeom>
          <a:noFill/>
          <a:ln/>
        </p:spPr>
        <p:txBody>
          <a:bodyPr wrap="square" lIns="0" tIns="0" rIns="0" bIns="0" rtlCol="0" anchor="ctr"/>
          <a:lstStyle/>
          <a:p>
            <a:pPr indent="0" marL="0">
              <a:buNone/>
            </a:pPr>
            <a:r>
              <a:rPr lang="en-US" sz="1550" dirty="0">
                <a:solidFill>
                  <a:schemeClr val="tx1"/>
                </a:solidFill>
              </a:rPr>
              <a:t>Quick Sort is an efficient comparison-based sorting algorithm that follows divide and conquer.</a:t>
            </a:r>
            <a:endParaRPr lang="en-US" sz="1550" dirty="0"/>
          </a:p>
        </p:txBody>
      </p:sp>
      <p:sp>
        <p:nvSpPr>
          <p:cNvPr id="6" name="Shape 4"/>
          <p:cNvSpPr/>
          <p:nvPr/>
        </p:nvSpPr>
        <p:spPr>
          <a:xfrm>
            <a:off x="548640" y="2404872"/>
            <a:ext cx="6035040" cy="1051560"/>
          </a:xfrm>
          <a:prstGeom prst="roundRect">
            <a:avLst>
              <a:gd name="adj" fmla="val 8696"/>
            </a:avLst>
          </a:prstGeom>
          <a:solidFill>
            <a:schemeClr val="bg2"/>
          </a:solidFill>
          <a:ln w="6350">
            <a:solidFill>
              <a:schemeClr val="bg2"/>
            </a:solidFill>
            <a:prstDash val="solid"/>
          </a:ln>
        </p:spPr>
      </p:sp>
      <p:sp>
        <p:nvSpPr>
          <p:cNvPr id="7" name="Text 5"/>
          <p:cNvSpPr/>
          <p:nvPr/>
        </p:nvSpPr>
        <p:spPr>
          <a:xfrm>
            <a:off x="777240" y="2752344"/>
            <a:ext cx="365760" cy="365760"/>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8" name="Text 6"/>
          <p:cNvSpPr txBox="1"/>
          <p:nvPr/>
        </p:nvSpPr>
        <p:spPr>
          <a:xfrm>
            <a:off x="1325880" y="2450592"/>
            <a:ext cx="5120640" cy="960120"/>
          </a:xfrm>
          <a:prstGeom prst="rect">
            <a:avLst/>
          </a:prstGeom>
          <a:noFill/>
          <a:ln/>
        </p:spPr>
        <p:txBody>
          <a:bodyPr wrap="square" lIns="0" tIns="0" rIns="0" bIns="0" rtlCol="0" anchor="ctr"/>
          <a:lstStyle/>
          <a:p>
            <a:pPr indent="0" marL="0">
              <a:buNone/>
            </a:pPr>
            <a:r>
              <a:rPr lang="en-US" sz="1550" dirty="0">
                <a:solidFill>
                  <a:schemeClr val="tx1"/>
                </a:solidFill>
              </a:rPr>
              <a:t>It selects a pivot, partitions the array using two pointers (i and j), and recursively sorts the resulting partitions.</a:t>
            </a:r>
            <a:endParaRPr lang="en-US" sz="1550" dirty="0"/>
          </a:p>
        </p:txBody>
      </p:sp>
      <p:sp>
        <p:nvSpPr>
          <p:cNvPr id="9" name="Shape 7"/>
          <p:cNvSpPr/>
          <p:nvPr/>
        </p:nvSpPr>
        <p:spPr>
          <a:xfrm>
            <a:off x="548640" y="3575304"/>
            <a:ext cx="6035040" cy="1051560"/>
          </a:xfrm>
          <a:prstGeom prst="roundRect">
            <a:avLst>
              <a:gd name="adj" fmla="val 8696"/>
            </a:avLst>
          </a:prstGeom>
          <a:solidFill>
            <a:schemeClr val="bg2"/>
          </a:solidFill>
          <a:ln w="6350">
            <a:solidFill>
              <a:schemeClr val="bg2"/>
            </a:solidFill>
            <a:prstDash val="solid"/>
          </a:ln>
        </p:spPr>
      </p:sp>
      <p:sp>
        <p:nvSpPr>
          <p:cNvPr id="10" name="Text 8"/>
          <p:cNvSpPr/>
          <p:nvPr/>
        </p:nvSpPr>
        <p:spPr>
          <a:xfrm>
            <a:off x="777240" y="3922776"/>
            <a:ext cx="365760" cy="365760"/>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1" name="Text 9"/>
          <p:cNvSpPr txBox="1"/>
          <p:nvPr/>
        </p:nvSpPr>
        <p:spPr>
          <a:xfrm>
            <a:off x="1325880" y="3621024"/>
            <a:ext cx="5120640" cy="960120"/>
          </a:xfrm>
          <a:prstGeom prst="rect">
            <a:avLst/>
          </a:prstGeom>
          <a:noFill/>
          <a:ln/>
        </p:spPr>
        <p:txBody>
          <a:bodyPr wrap="square" lIns="0" tIns="0" rIns="0" bIns="0" rtlCol="0" anchor="ctr"/>
          <a:lstStyle/>
          <a:p>
            <a:pPr indent="0" marL="0">
              <a:buNone/>
            </a:pPr>
            <a:r>
              <a:rPr lang="en-US" sz="1550" dirty="0">
                <a:solidFill>
                  <a:schemeClr val="tx1"/>
                </a:solidFill>
              </a:rPr>
              <a:t>Choosing the middle-position element keeps the code simple, but does not guarantee balanced partitions.</a:t>
            </a:r>
            <a:endParaRPr lang="en-US" sz="1550" dirty="0"/>
          </a:p>
        </p:txBody>
      </p:sp>
      <p:sp>
        <p:nvSpPr>
          <p:cNvPr id="12" name="Shape 10"/>
          <p:cNvSpPr/>
          <p:nvPr/>
        </p:nvSpPr>
        <p:spPr>
          <a:xfrm>
            <a:off x="6858000" y="1234440"/>
            <a:ext cx="4800600" cy="3383280"/>
          </a:xfrm>
          <a:prstGeom prst="roundRect">
            <a:avLst>
              <a:gd name="adj" fmla="val 2703"/>
            </a:avLst>
          </a:prstGeom>
          <a:solidFill>
            <a:schemeClr val="bg2"/>
          </a:solidFill>
          <a:ln w="6350">
            <a:solidFill>
              <a:schemeClr val="bg2"/>
            </a:solidFill>
            <a:prstDash val="solid"/>
          </a:ln>
        </p:spPr>
      </p:sp>
      <p:sp>
        <p:nvSpPr>
          <p:cNvPr id="13" name="Text 11"/>
          <p:cNvSpPr txBox="1"/>
          <p:nvPr/>
        </p:nvSpPr>
        <p:spPr>
          <a:xfrm>
            <a:off x="7086600" y="1325880"/>
            <a:ext cx="4389120" cy="365760"/>
          </a:xfrm>
          <a:prstGeom prst="rect">
            <a:avLst/>
          </a:prstGeom>
          <a:noFill/>
          <a:ln/>
        </p:spPr>
        <p:txBody>
          <a:bodyPr wrap="square" lIns="0" tIns="0" rIns="0" bIns="0" rtlCol="0" anchor="ctr"/>
          <a:lstStyle/>
          <a:p>
            <a:pPr indent="0" marL="0">
              <a:buNone/>
            </a:pPr>
            <a:r>
              <a:rPr lang="en-US" sz="1800" b="1" dirty="0">
                <a:solidFill>
                  <a:schemeClr val="tx2"/>
                </a:solidFill>
              </a:rPr>
              <a:t>Final example</a:t>
            </a:r>
            <a:endParaRPr lang="en-US" sz="1800" dirty="0"/>
          </a:p>
        </p:txBody>
      </p:sp>
      <p:sp>
        <p:nvSpPr>
          <p:cNvPr id="14" name="Text 12"/>
          <p:cNvSpPr txBox="1"/>
          <p:nvPr/>
        </p:nvSpPr>
        <p:spPr>
          <a:xfrm>
            <a:off x="7086600" y="1828800"/>
            <a:ext cx="1828800" cy="256032"/>
          </a:xfrm>
          <a:prstGeom prst="rect">
            <a:avLst/>
          </a:prstGeom>
          <a:noFill/>
          <a:ln/>
        </p:spPr>
        <p:txBody>
          <a:bodyPr wrap="square" lIns="0" tIns="0" rIns="0" bIns="0" rtlCol="0" anchor="ctr"/>
          <a:lstStyle/>
          <a:p>
            <a:pPr indent="0" marL="0">
              <a:buNone/>
            </a:pPr>
            <a:r>
              <a:rPr lang="en-US" sz="1300" b="1" dirty="0">
                <a:solidFill>
                  <a:schemeClr val="accent6"/>
                </a:solidFill>
              </a:rPr>
              <a:t>Input</a:t>
            </a:r>
            <a:endParaRPr lang="en-US" sz="1300" dirty="0"/>
          </a:p>
        </p:txBody>
      </p:sp>
      <p:sp>
        <p:nvSpPr>
          <p:cNvPr id="15" name="Text 13"/>
          <p:cNvSpPr/>
          <p:nvPr/>
        </p:nvSpPr>
        <p:spPr>
          <a:xfrm>
            <a:off x="7086600"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8</a:t>
            </a:r>
            <a:endParaRPr lang="en-US" sz="1600" dirty="0"/>
          </a:p>
        </p:txBody>
      </p:sp>
      <p:sp>
        <p:nvSpPr>
          <p:cNvPr id="16" name="Text 14"/>
          <p:cNvSpPr/>
          <p:nvPr/>
        </p:nvSpPr>
        <p:spPr>
          <a:xfrm>
            <a:off x="7708392"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3</a:t>
            </a:r>
            <a:endParaRPr lang="en-US" sz="1600" dirty="0"/>
          </a:p>
        </p:txBody>
      </p:sp>
      <p:sp>
        <p:nvSpPr>
          <p:cNvPr id="17" name="Text 15"/>
          <p:cNvSpPr/>
          <p:nvPr/>
        </p:nvSpPr>
        <p:spPr>
          <a:xfrm>
            <a:off x="8330184"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18" name="Text 16"/>
          <p:cNvSpPr/>
          <p:nvPr/>
        </p:nvSpPr>
        <p:spPr>
          <a:xfrm>
            <a:off x="8951976" y="2121408"/>
            <a:ext cx="548640" cy="502920"/>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7</a:t>
            </a:r>
            <a:endParaRPr lang="en-US" sz="1600" dirty="0"/>
          </a:p>
        </p:txBody>
      </p:sp>
      <p:sp>
        <p:nvSpPr>
          <p:cNvPr id="19" name="Text 17"/>
          <p:cNvSpPr/>
          <p:nvPr/>
        </p:nvSpPr>
        <p:spPr>
          <a:xfrm>
            <a:off x="9573768"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0" name="Text 18"/>
          <p:cNvSpPr/>
          <p:nvPr/>
        </p:nvSpPr>
        <p:spPr>
          <a:xfrm>
            <a:off x="10195560"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10</a:t>
            </a:r>
            <a:endParaRPr lang="en-US" sz="1600" dirty="0"/>
          </a:p>
        </p:txBody>
      </p:sp>
      <p:sp>
        <p:nvSpPr>
          <p:cNvPr id="21" name="Text 19"/>
          <p:cNvSpPr/>
          <p:nvPr/>
        </p:nvSpPr>
        <p:spPr>
          <a:xfrm>
            <a:off x="10817352" y="212140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22" name="Shape 20"/>
          <p:cNvSpPr/>
          <p:nvPr/>
        </p:nvSpPr>
        <p:spPr>
          <a:xfrm>
            <a:off x="9235440" y="2743200"/>
            <a:ext cx="0" cy="502920"/>
          </a:xfrm>
          <a:prstGeom prst="line">
            <a:avLst/>
          </a:prstGeom>
          <a:noFill/>
          <a:ln w="31750">
            <a:solidFill>
              <a:schemeClr val="accent6"/>
            </a:solidFill>
            <a:prstDash val="solid"/>
            <a:tailEnd type="triangle"/>
          </a:ln>
        </p:spPr>
      </p:sp>
      <p:sp>
        <p:nvSpPr>
          <p:cNvPr id="23" name="Text 21"/>
          <p:cNvSpPr txBox="1"/>
          <p:nvPr/>
        </p:nvSpPr>
        <p:spPr>
          <a:xfrm>
            <a:off x="9418320" y="2834640"/>
            <a:ext cx="2194560" cy="32004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quickSort(arr, 0, n - 1)</a:t>
            </a:r>
            <a:endParaRPr lang="en-US" sz="1100" dirty="0"/>
          </a:p>
        </p:txBody>
      </p:sp>
      <p:sp>
        <p:nvSpPr>
          <p:cNvPr id="24" name="Text 22"/>
          <p:cNvSpPr txBox="1"/>
          <p:nvPr/>
        </p:nvSpPr>
        <p:spPr>
          <a:xfrm>
            <a:off x="7086600" y="3337560"/>
            <a:ext cx="1828800" cy="256032"/>
          </a:xfrm>
          <a:prstGeom prst="rect">
            <a:avLst/>
          </a:prstGeom>
          <a:noFill/>
          <a:ln/>
        </p:spPr>
        <p:txBody>
          <a:bodyPr wrap="square" lIns="0" tIns="0" rIns="0" bIns="0" rtlCol="0" anchor="ctr"/>
          <a:lstStyle/>
          <a:p>
            <a:pPr indent="0" marL="0">
              <a:buNone/>
            </a:pPr>
            <a:r>
              <a:rPr lang="en-US" sz="1300" b="1" dirty="0">
                <a:solidFill>
                  <a:schemeClr val="accent6"/>
                </a:solidFill>
              </a:rPr>
              <a:t>Output</a:t>
            </a:r>
            <a:endParaRPr lang="en-US" sz="1300" dirty="0"/>
          </a:p>
        </p:txBody>
      </p:sp>
      <p:sp>
        <p:nvSpPr>
          <p:cNvPr id="25" name="Text 23"/>
          <p:cNvSpPr/>
          <p:nvPr/>
        </p:nvSpPr>
        <p:spPr>
          <a:xfrm>
            <a:off x="7086600"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0</a:t>
            </a:r>
            <a:endParaRPr lang="en-US" sz="1600" dirty="0"/>
          </a:p>
        </p:txBody>
      </p:sp>
      <p:sp>
        <p:nvSpPr>
          <p:cNvPr id="26" name="Text 24"/>
          <p:cNvSpPr/>
          <p:nvPr/>
        </p:nvSpPr>
        <p:spPr>
          <a:xfrm>
            <a:off x="7708392"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1</a:t>
            </a:r>
            <a:endParaRPr lang="en-US" sz="1600" dirty="0"/>
          </a:p>
        </p:txBody>
      </p:sp>
      <p:sp>
        <p:nvSpPr>
          <p:cNvPr id="27" name="Text 25"/>
          <p:cNvSpPr/>
          <p:nvPr/>
        </p:nvSpPr>
        <p:spPr>
          <a:xfrm>
            <a:off x="8330184"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2</a:t>
            </a:r>
            <a:endParaRPr lang="en-US" sz="1600" dirty="0"/>
          </a:p>
        </p:txBody>
      </p:sp>
      <p:sp>
        <p:nvSpPr>
          <p:cNvPr id="28" name="Text 26"/>
          <p:cNvSpPr/>
          <p:nvPr/>
        </p:nvSpPr>
        <p:spPr>
          <a:xfrm>
            <a:off x="8951976"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3</a:t>
            </a:r>
            <a:endParaRPr lang="en-US" sz="1600" dirty="0"/>
          </a:p>
        </p:txBody>
      </p:sp>
      <p:sp>
        <p:nvSpPr>
          <p:cNvPr id="29" name="Text 27"/>
          <p:cNvSpPr/>
          <p:nvPr/>
        </p:nvSpPr>
        <p:spPr>
          <a:xfrm>
            <a:off x="9573768" y="3630168"/>
            <a:ext cx="548640" cy="502920"/>
          </a:xfrm>
          <a:prstGeom prst="rect">
            <a:avLst/>
          </a:prstGeom>
          <a:solidFill>
            <a:schemeClr val="accent2"/>
          </a:solidFill>
          <a:ln w="15875">
            <a:solidFill>
              <a:schemeClr val="accent2"/>
            </a:solid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7</a:t>
            </a:r>
            <a:endParaRPr lang="en-US" sz="1600" dirty="0"/>
          </a:p>
        </p:txBody>
      </p:sp>
      <p:sp>
        <p:nvSpPr>
          <p:cNvPr id="30" name="Text 28"/>
          <p:cNvSpPr/>
          <p:nvPr/>
        </p:nvSpPr>
        <p:spPr>
          <a:xfrm>
            <a:off x="10195560"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8</a:t>
            </a:r>
            <a:endParaRPr lang="en-US" sz="1600" dirty="0"/>
          </a:p>
        </p:txBody>
      </p:sp>
      <p:sp>
        <p:nvSpPr>
          <p:cNvPr id="31" name="Text 29"/>
          <p:cNvSpPr/>
          <p:nvPr/>
        </p:nvSpPr>
        <p:spPr>
          <a:xfrm>
            <a:off x="10817352" y="3630168"/>
            <a:ext cx="548640" cy="502920"/>
          </a:xfrm>
          <a:prstGeom prst="rect">
            <a:avLst/>
          </a:prstGeom>
          <a:solidFill>
            <a:schemeClr val="bg1"/>
          </a:solidFill>
          <a:ln w="15875">
            <a:solidFill>
              <a:schemeClr val="accent6"/>
            </a:solidFill>
          </a:ln>
        </p:spPr>
        <p:txBody>
          <a:bodyPr wrap="square" lIns="0" tIns="0" rIns="0" bIns="0" rtlCol="0" anchor="ctr"/>
          <a:lstStyle/>
          <a:p>
            <a:pPr algn="ctr" indent="0" marL="0">
              <a:buNone/>
            </a:pPr>
            <a:r>
              <a:rPr lang="en-US" sz="1600" b="1" dirty="0">
                <a:solidFill>
                  <a:schemeClr val="tx1"/>
                </a:solidFill>
                <a:latin typeface="Courier New" pitchFamily="34" charset="0"/>
                <a:ea typeface="Courier New" pitchFamily="34" charset="-122"/>
                <a:cs typeface="Courier New" pitchFamily="34" charset="-120"/>
              </a:rPr>
              <a:t>10</a:t>
            </a:r>
            <a:endParaRPr lang="en-US" sz="1600" dirty="0"/>
          </a:p>
        </p:txBody>
      </p:sp>
      <p:sp>
        <p:nvSpPr>
          <p:cNvPr id="32" name="Text 30"/>
          <p:cNvSpPr txBox="1"/>
          <p:nvPr/>
        </p:nvSpPr>
        <p:spPr>
          <a:xfrm>
            <a:off x="548640" y="4983480"/>
            <a:ext cx="11109960" cy="822960"/>
          </a:xfrm>
          <a:prstGeom prst="rect">
            <a:avLst/>
          </a:prstGeom>
          <a:noFill/>
          <a:ln/>
        </p:spPr>
        <p:txBody>
          <a:bodyPr wrap="square" lIns="0" tIns="0" rIns="0" bIns="0" rtlCol="0" anchor="ctr"/>
          <a:lstStyle/>
          <a:p>
            <a:pPr algn="ctr" indent="0" marL="0">
              <a:buNone/>
            </a:pPr>
            <a:r>
              <a:rPr lang="en-US" sz="4400" b="1" dirty="0">
                <a:solidFill>
                  <a:schemeClr val="tx2"/>
                </a:solidFill>
                <a:latin typeface="Cambria" pitchFamily="34" charset="0"/>
                <a:ea typeface="Cambria" pitchFamily="34" charset="-122"/>
                <a:cs typeface="Cambria" pitchFamily="34" charset="-120"/>
              </a:rPr>
              <a:t>Thank You</a:t>
            </a:r>
            <a:endParaRPr lang="en-US" sz="4400" dirty="0"/>
          </a:p>
        </p:txBody>
      </p:sp>
      <p:sp>
        <p:nvSpPr>
          <p:cNvPr id="33" name="Text 31"/>
          <p:cNvSpPr txBox="1"/>
          <p:nvPr/>
        </p:nvSpPr>
        <p:spPr>
          <a:xfrm>
            <a:off x="548640" y="5852160"/>
            <a:ext cx="11109960" cy="365760"/>
          </a:xfrm>
          <a:prstGeom prst="rect">
            <a:avLst/>
          </a:prstGeom>
          <a:noFill/>
          <a:ln/>
        </p:spPr>
        <p:txBody>
          <a:bodyPr wrap="square" lIns="0" tIns="0" rIns="0" bIns="0" rtlCol="0" anchor="ctr"/>
          <a:lstStyle/>
          <a:p>
            <a:pPr algn="ctr" indent="0" marL="0">
              <a:buNone/>
            </a:pPr>
            <a:r>
              <a:rPr lang="en-US" sz="1500" i="1" dirty="0">
                <a:solidFill>
                  <a:schemeClr val="accent6"/>
                </a:solidFill>
              </a:rPr>
              <a:t>Generated using Claude AI</a:t>
            </a:r>
            <a:endParaRPr lang="en-US" sz="1500" dirty="0"/>
          </a:p>
        </p:txBody>
      </p:sp>
      <p:sp>
        <p:nvSpPr>
          <p:cNvPr id="25" name="Slide Number Placeholder 0"/>
          <p:cNvSpPr>
            <a:spLocks noGrp="1"/>
          </p:cNvSpPr>
          <p:nvPr>
            <p:ph type="sldNum" sz="quarter" idx="4294967295"/>
          </p:nvPr>
        </p:nvSpPr>
        <p:spPr>
          <a:xfrm>
            <a:off x="10972800" y="6492240"/>
            <a:ext cx="64008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DAA Quick Sort">
  <a:themeElements>
    <a:clrScheme name="DAA Quick Sort">
      <a:dk1>
        <a:srgbClr val="0F172A"/>
      </a:dk1>
      <a:lt1>
        <a:srgbClr val="FFFFFF"/>
      </a:lt1>
      <a:dk2>
        <a:srgbClr val="1E3A8A"/>
      </a:dk2>
      <a:lt2>
        <a:srgbClr val="F1F5F9"/>
      </a:lt2>
      <a:accent1>
        <a:srgbClr val="1D4ED8"/>
      </a:accent1>
      <a:accent2>
        <a:srgbClr val="0F766E"/>
      </a:accent2>
      <a:accent3>
        <a:srgbClr val="C2410C"/>
      </a:accent3>
      <a:accent4>
        <a:srgbClr val="FBBF24"/>
      </a:accent4>
      <a:accent5>
        <a:srgbClr val="7C3AED"/>
      </a:accent5>
      <a:accent6>
        <a:srgbClr val="64748B"/>
      </a:accent6>
      <a:hlink>
        <a:srgbClr val="1D4ED8"/>
      </a:hlink>
      <a:folHlink>
        <a:srgbClr val="7C3AED"/>
      </a:folHlink>
    </a:clrScheme>
    <a:fontScheme name="DAA Quick S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 Sort Using the Middle Element as Pivot</dc:title>
  <dc:subject>Design and Analysis of Algorithms (DAA)</dc:subject>
  <dc:creator>Amey Choudhari</dc:creator>
  <cp:lastModifiedBy>Amey Choudhari</cp:lastModifiedBy>
  <cp:revision>1</cp:revision>
  <dcterms:created xsi:type="dcterms:W3CDTF">2026-10-14T18:44:07Z</dcterms:created>
  <dcterms:modified xsi:type="dcterms:W3CDTF">2026-10-14T18:44:07Z</dcterms:modified>
</cp:coreProperties>
</file>